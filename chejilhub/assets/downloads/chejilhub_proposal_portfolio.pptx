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3B3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B-024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38395"/>
            <a:ext cx="5788152" cy="358120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06440" y="0"/>
            <a:ext cx="6382512" cy="6858000"/>
          </a:xfrm>
          <a:prstGeom prst="rect">
            <a:avLst/>
          </a:prstGeom>
          <a:solidFill>
            <a:srgbClr val="233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7315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B79558"/>
                </a:solidFill>
                <a:latin typeface="Malgun Gothic"/>
              </a:rPr>
              <a:t>EGLSLAB · SASANG MASTER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548640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DF8"/>
                </a:solidFill>
                <a:latin typeface="Malgun Gothic"/>
              </a:rPr>
              <a:t>사람의 리듬을 읽고, 삶의 장면을 잇다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53949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FFDF8"/>
                </a:solidFill>
                <a:latin typeface="Malgun Gothic"/>
              </a:rPr>
              <a:t>사상체질의 원형 지식과 생활의 여러 장면을 연결하는
연구·포트폴리오 비즈니스·협업 제안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53035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94AA9A"/>
                </a:solidFill>
                <a:latin typeface="Malgun Gothic"/>
              </a:rPr>
              <a:t>EGLSLAB · SASANG MASTER HUB  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6473952"/>
            <a:ext cx="4983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00" b="0">
                <a:solidFill>
                  <a:srgbClr val="94AA9A"/>
                </a:solidFill>
                <a:latin typeface="Malgun Gothic"/>
              </a:rPr>
              <a:t>Source: chejilhub.eglslab.com · portfolio menu excluded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9A4336"/>
                </a:solidFill>
                <a:latin typeface="Malgun Gothic"/>
              </a:rPr>
              <a:t>01 · 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57607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17231D"/>
                </a:solidFill>
                <a:latin typeface="Malgun Gothic"/>
              </a:rPr>
              <a:t>체질은 라벨이 아니라 개인화의 출발 좌표입니다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57400"/>
            <a:ext cx="53035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17231D"/>
                </a:solidFill>
                <a:latin typeface="Malgun Gothic"/>
              </a:rPr>
              <a:t>같은 체질이라도 나이, 수면, 스트레스, 목표와 장소가 다르면 다른 선택이 필요합니다.
EGLSLAB은 고정된 판정 대신 원형 경향과 오늘의 상태를 함께 살펴 음식·향·옷·움직임·여행·관계를 연결합니다.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685800"/>
            <a:ext cx="5120640" cy="4937760"/>
          </a:xfrm>
          <a:prstGeom prst="roundRect">
            <a:avLst/>
          </a:prstGeom>
          <a:solidFill>
            <a:srgbClr val="FFFDF8"/>
          </a:solidFill>
          <a:ln>
            <a:solidFill>
              <a:srgbClr val="E7D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KB-0279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9980" y="868680"/>
            <a:ext cx="4502279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6473952"/>
            <a:ext cx="53035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94AA9A"/>
                </a:solidFill>
                <a:latin typeface="Malgun Gothic"/>
              </a:rPr>
              <a:t>EGLSLAB · SASANG MASTER HUB  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6473952"/>
            <a:ext cx="4983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00" b="0">
                <a:solidFill>
                  <a:srgbClr val="94AA9A"/>
                </a:solidFill>
                <a:latin typeface="Malgun Gothic"/>
              </a:rPr>
              <a:t>Source: chejilhub.eglslab.com · portfolio menu excluded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9A4336"/>
                </a:solidFill>
                <a:latin typeface="Malgun Gothic"/>
              </a:rPr>
              <a:t>02 · PRINCIPLE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57607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17231D"/>
                </a:solidFill>
                <a:latin typeface="Malgun Gothic"/>
              </a:rPr>
              <a:t>사상체질을 생활 언어로 번역합니다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57400"/>
            <a:ext cx="53035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17231D"/>
                </a:solidFill>
                <a:latin typeface="Malgun Gothic"/>
              </a:rPr>
              <a:t>사상체질은 사람을 네 칸에 가두는 분류표가 아니라,
타고난 경향·현재 상태·환경의 상호작용을 읽는 관찰 프레임입니다.
의료 진단이나 치료를 대체하지 않으며, 설명 가능한 근거와 불확실성을 함께 제시합니다.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685800"/>
            <a:ext cx="5120640" cy="4937760"/>
          </a:xfrm>
          <a:prstGeom prst="roundRect">
            <a:avLst/>
          </a:prstGeom>
          <a:solidFill>
            <a:srgbClr val="FFFDF8"/>
          </a:solidFill>
          <a:ln>
            <a:solidFill>
              <a:srgbClr val="E7D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KB-004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3461" y="868680"/>
            <a:ext cx="2975316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6473952"/>
            <a:ext cx="53035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94AA9A"/>
                </a:solidFill>
                <a:latin typeface="Malgun Gothic"/>
              </a:rPr>
              <a:t>EGLSLAB · SASANG MASTER HUB  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6473952"/>
            <a:ext cx="4983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00" b="0">
                <a:solidFill>
                  <a:srgbClr val="94AA9A"/>
                </a:solidFill>
                <a:latin typeface="Malgun Gothic"/>
              </a:rPr>
              <a:t>Source: chejilhub.eglslab.com · portfolio menu excluded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9A4336"/>
                </a:solidFill>
                <a:latin typeface="Malgun Gothic"/>
              </a:rPr>
              <a:t>03 · FUSION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57607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17231D"/>
                </a:solidFill>
                <a:latin typeface="Malgun Gothic"/>
              </a:rPr>
              <a:t>다섯 단계가 흩어진 분야를 하나의 경험으로 바꿉니다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57400"/>
            <a:ext cx="53035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17231D"/>
                </a:solidFill>
                <a:latin typeface="Malgun Gothic"/>
              </a:rPr>
              <a:t>01 사람과 상황을 발견하고  →  02 가능성을 해석하고  →  03 산업별 조합을 설계하고
04 강의·제품·상담·스파·여행으로 경험화한 뒤  →  05 행동과 만족을 확인하며 갱신합니다.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685800"/>
            <a:ext cx="5120640" cy="4937760"/>
          </a:xfrm>
          <a:prstGeom prst="roundRect">
            <a:avLst/>
          </a:prstGeom>
          <a:solidFill>
            <a:srgbClr val="FFFDF8"/>
          </a:solidFill>
          <a:ln>
            <a:solidFill>
              <a:srgbClr val="E7D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KB-0279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9980" y="868680"/>
            <a:ext cx="4502279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0749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9A4336"/>
                </a:solidFill>
                <a:latin typeface="Malgun Gothic"/>
              </a:rPr>
              <a:t>DISCOVER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7632" y="5065776"/>
            <a:ext cx="182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B79558"/>
                </a:solidFill>
                <a:latin typeface="Malgun Gothic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50749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9A4336"/>
                </a:solidFill>
                <a:latin typeface="Malgun Gothic"/>
              </a:rPr>
              <a:t>INTERPRET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79191" y="5065776"/>
            <a:ext cx="182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B79558"/>
                </a:solidFill>
                <a:latin typeface="Malgun Gothic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39" y="50749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9A4336"/>
                </a:solidFill>
                <a:latin typeface="Malgun Gothic"/>
              </a:rPr>
              <a:t>CURATE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30752" y="5065776"/>
            <a:ext cx="182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B79558"/>
                </a:solidFill>
                <a:latin typeface="Malgun Gothic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50749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9A4336"/>
                </a:solidFill>
                <a:latin typeface="Malgun Gothic"/>
              </a:rPr>
              <a:t>EXPERIENCE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82312" y="5065776"/>
            <a:ext cx="182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B79558"/>
                </a:solidFill>
                <a:latin typeface="Malgun Gothic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59" y="507492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9A4336"/>
                </a:solidFill>
                <a:latin typeface="Malgun Gothic"/>
              </a:rPr>
              <a:t>EVOLVE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73952"/>
            <a:ext cx="53035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94AA9A"/>
                </a:solidFill>
                <a:latin typeface="Malgun Gothic"/>
              </a:rPr>
              <a:t>EGLSLAB · SASANG MASTER HUB   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6473952"/>
            <a:ext cx="4983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00" b="0">
                <a:solidFill>
                  <a:srgbClr val="94AA9A"/>
                </a:solidFill>
                <a:latin typeface="Malgun Gothic"/>
              </a:rPr>
              <a:t>Source: chejilhub.eglslab.com · portfolio menu excluded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9A4336"/>
                </a:solidFill>
                <a:latin typeface="Malgun Gothic"/>
              </a:rPr>
              <a:t>04 · APPLICATION FIELDS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57607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17231D"/>
                </a:solidFill>
                <a:latin typeface="Malgun Gothic"/>
              </a:rPr>
              <a:t>연구에서 생활 경험까지, 연결 가능한 장면이 넓습니다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57400"/>
            <a:ext cx="53035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17231D"/>
                </a:solidFill>
                <a:latin typeface="Malgun Gothic"/>
              </a:rPr>
              <a:t>식품·향·화장품·패션·교육·조직·관광·스파·콘텐츠를
각 산업의 고객 장면에 맞춰 큐레이션합니다.
핵심은 체질을 덧붙이는 것이 아니라, 고객이 실제로 선택하고 행동하는 순간을 설계하는 것입니다.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685800"/>
            <a:ext cx="5120640" cy="4937760"/>
          </a:xfrm>
          <a:prstGeom prst="roundRect">
            <a:avLst/>
          </a:prstGeom>
          <a:solidFill>
            <a:srgbClr val="FFFDF8"/>
          </a:solidFill>
          <a:ln>
            <a:solidFill>
              <a:srgbClr val="E7D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global-proposition-illus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653767"/>
            <a:ext cx="4846320" cy="27275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4983480"/>
            <a:ext cx="100584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4D7768"/>
                </a:solidFill>
                <a:latin typeface="Malgun Gothic"/>
              </a:rPr>
              <a:t>식품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4983480"/>
            <a:ext cx="100584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4D7768"/>
                </a:solidFill>
                <a:latin typeface="Malgun Gothic"/>
              </a:rPr>
              <a:t>아로마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4983480"/>
            <a:ext cx="100584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4D7768"/>
                </a:solidFill>
                <a:latin typeface="Malgun Gothic"/>
              </a:rPr>
              <a:t>패션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4983480"/>
            <a:ext cx="100584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4D7768"/>
                </a:solidFill>
                <a:latin typeface="Malgun Gothic"/>
              </a:rPr>
              <a:t>교육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394960"/>
            <a:ext cx="100584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4D7768"/>
                </a:solidFill>
                <a:latin typeface="Malgun Gothic"/>
              </a:rPr>
              <a:t>조직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5394960"/>
            <a:ext cx="100584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4D7768"/>
                </a:solidFill>
                <a:latin typeface="Malgun Gothic"/>
              </a:rPr>
              <a:t>스파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5394960"/>
            <a:ext cx="100584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4D7768"/>
                </a:solidFill>
                <a:latin typeface="Malgun Gothic"/>
              </a:rPr>
              <a:t>관광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5394960"/>
            <a:ext cx="100584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4D7768"/>
                </a:solidFill>
                <a:latin typeface="Malgun Gothic"/>
              </a:rPr>
              <a:t>콘텐츠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73952"/>
            <a:ext cx="53035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94AA9A"/>
                </a:solidFill>
                <a:latin typeface="Malgun Gothic"/>
              </a:rPr>
              <a:t>EGLSLAB · SASANG MASTER HUB   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6473952"/>
            <a:ext cx="4983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00" b="0">
                <a:solidFill>
                  <a:srgbClr val="94AA9A"/>
                </a:solidFill>
                <a:latin typeface="Malgun Gothic"/>
              </a:rPr>
              <a:t>Source: chejilhub.eglslab.com · portfolio menu excluded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9A4336"/>
                </a:solidFill>
                <a:latin typeface="Malgun Gothic"/>
              </a:rPr>
              <a:t>05 · EVIDENCE &amp; BOUNDARIES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57607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17231D"/>
                </a:solidFill>
                <a:latin typeface="Malgun Gothic"/>
              </a:rPr>
              <a:t>과학적 근거는 가능성과 한계를 함께 말해야 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57400"/>
            <a:ext cx="53035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17231D"/>
                </a:solidFill>
                <a:latin typeface="Malgun Gothic"/>
              </a:rPr>
              <a:t>질문지·체질 분류·BMI·식품·행동 데이터와 외부 연구를 연결하되,
단일 SNP나 작은 비교연구만으로 체질·질환·치료 효과를 단정하지 않습니다.
근거 수준, 재현성, 표본과 맥락을 구분해 신뢰 가능한 설명을 만듭니다.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685800"/>
            <a:ext cx="5120640" cy="4937760"/>
          </a:xfrm>
          <a:prstGeom prst="roundRect">
            <a:avLst/>
          </a:prstGeom>
          <a:solidFill>
            <a:srgbClr val="FFFDF8"/>
          </a:solidFill>
          <a:ln>
            <a:solidFill>
              <a:srgbClr val="E7D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KB-0087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4115" y="868680"/>
            <a:ext cx="3414008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4983480"/>
            <a:ext cx="14173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9A4336"/>
                </a:solidFill>
                <a:latin typeface="Malgun Gothic"/>
              </a:rPr>
              <a:t>1,222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40680"/>
            <a:ext cx="1508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17231D"/>
                </a:solidFill>
                <a:latin typeface="Malgun Gothic"/>
              </a:rPr>
              <a:t>체질 관련 외부 자료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4983480"/>
            <a:ext cx="14173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9A4336"/>
                </a:solidFill>
                <a:latin typeface="Malgun Gothic"/>
              </a:rPr>
              <a:t>341,998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5440680"/>
            <a:ext cx="1508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17231D"/>
                </a:solidFill>
                <a:latin typeface="Malgun Gothic"/>
              </a:rPr>
              <a:t>연관 키워드 기록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4983480"/>
            <a:ext cx="14173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9A4336"/>
                </a:solidFill>
                <a:latin typeface="Malgun Gothic"/>
              </a:rPr>
              <a:t>19.1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5440680"/>
            <a:ext cx="1508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17231D"/>
                </a:solidFill>
                <a:latin typeface="Malgun Gothic"/>
              </a:rPr>
              <a:t>연구·문헌 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53035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94AA9A"/>
                </a:solidFill>
                <a:latin typeface="Malgun Gothic"/>
              </a:rPr>
              <a:t>EGLSLAB · SASANG MASTER HUB   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6473952"/>
            <a:ext cx="4983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00" b="0">
                <a:solidFill>
                  <a:srgbClr val="94AA9A"/>
                </a:solidFill>
                <a:latin typeface="Malgun Gothic"/>
              </a:rPr>
              <a:t>Source: chejilhub.eglslab.com · portfolio menu excluded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9A4336"/>
                </a:solidFill>
                <a:latin typeface="Malgun Gothic"/>
              </a:rPr>
              <a:t>06 · KOREA COLLABORATIONS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57607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17231D"/>
                </a:solidFill>
                <a:latin typeface="Malgun Gothic"/>
              </a:rPr>
              <a:t>국내 현장에서 검증하고, 협업 가능한 프로그램으로 확장합니다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57400"/>
            <a:ext cx="53035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17231D"/>
                </a:solidFill>
                <a:latin typeface="Malgun Gothic"/>
              </a:rPr>
              <a:t>기업교육·공공기관 강의·앱·식품 전시·힐링페어·스파·지역관광 등
현장의 목적과 고객을 기준으로 프로그램을 설계합니다.
파트너의 자산과 EGLSLAB의 체질 언어를 결합해 공동 기획·운영·검증을 추진합니다.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685800"/>
            <a:ext cx="5120640" cy="4937760"/>
          </a:xfrm>
          <a:prstGeom prst="roundRect">
            <a:avLst/>
          </a:prstGeom>
          <a:solidFill>
            <a:srgbClr val="FFFDF8"/>
          </a:solidFill>
          <a:ln>
            <a:solidFill>
              <a:srgbClr val="E7D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KB-024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518277"/>
            <a:ext cx="4846320" cy="299848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4983480"/>
            <a:ext cx="100584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4D7768"/>
                </a:solidFill>
                <a:latin typeface="Malgun Gothic"/>
              </a:rPr>
              <a:t>강의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4983480"/>
            <a:ext cx="100584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4D7768"/>
                </a:solidFill>
                <a:latin typeface="Malgun Gothic"/>
              </a:rPr>
              <a:t>기업교육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4983480"/>
            <a:ext cx="100584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4D7768"/>
                </a:solidFill>
                <a:latin typeface="Malgun Gothic"/>
              </a:rPr>
              <a:t>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4983480"/>
            <a:ext cx="100584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4D7768"/>
                </a:solidFill>
                <a:latin typeface="Malgun Gothic"/>
              </a:rPr>
              <a:t>전시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394960"/>
            <a:ext cx="100584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4D7768"/>
                </a:solidFill>
                <a:latin typeface="Malgun Gothic"/>
              </a:rPr>
              <a:t>힐링페어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5394960"/>
            <a:ext cx="100584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4D7768"/>
                </a:solidFill>
                <a:latin typeface="Malgun Gothic"/>
              </a:rPr>
              <a:t>스파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5394960"/>
            <a:ext cx="100584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4D7768"/>
                </a:solidFill>
                <a:latin typeface="Malgun Gothic"/>
              </a:rPr>
              <a:t>지역관광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73952"/>
            <a:ext cx="53035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94AA9A"/>
                </a:solidFill>
                <a:latin typeface="Malgun Gothic"/>
              </a:rPr>
              <a:t>EGLSLAB · SASANG MASTER HUB   07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6473952"/>
            <a:ext cx="4983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00" b="0">
                <a:solidFill>
                  <a:srgbClr val="94AA9A"/>
                </a:solidFill>
                <a:latin typeface="Malgun Gothic"/>
              </a:rPr>
              <a:t>Source: chejilhub.eglslab.com · portfolio menu excluded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9A4336"/>
                </a:solidFill>
                <a:latin typeface="Malgun Gothic"/>
              </a:rPr>
              <a:t>07 · GLOBAL PROPOSITION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57607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17231D"/>
                </a:solidFill>
                <a:latin typeface="Malgun Gothic"/>
              </a:rPr>
              <a:t>한국에서 태동한 원형을 세계의 생활 프로그램으로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57400"/>
            <a:ext cx="53035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17231D"/>
                </a:solidFill>
                <a:latin typeface="Malgun Gothic"/>
              </a:rPr>
              <a:t>일본·브라질·튀르키예·중국 등 기록된 접점을 검증하고,
원형의 계보·안전 프로토콜·다국어 운영 표준을 하나의 글로벌 IP로 발전시킵니다.
현지 생활 장면에 맞게 번역하되, 원형 데이터의 경계는 지킵니다.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685800"/>
            <a:ext cx="5120640" cy="4937760"/>
          </a:xfrm>
          <a:prstGeom prst="roundRect">
            <a:avLst/>
          </a:prstGeom>
          <a:solidFill>
            <a:srgbClr val="FFFDF8"/>
          </a:solidFill>
          <a:ln>
            <a:solidFill>
              <a:srgbClr val="E7D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global-proposition-illus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653767"/>
            <a:ext cx="4846320" cy="27275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074920"/>
            <a:ext cx="12344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4D7768"/>
                </a:solidFill>
                <a:latin typeface="Malgun Gothic"/>
              </a:rPr>
              <a:t>원형 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5074920"/>
            <a:ext cx="12344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4D7768"/>
                </a:solidFill>
                <a:latin typeface="Malgun Gothic"/>
              </a:rPr>
              <a:t>현지 실증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5074920"/>
            <a:ext cx="12344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4D7768"/>
                </a:solidFill>
                <a:latin typeface="Malgun Gothic"/>
              </a:rPr>
              <a:t>다국어 표준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80" y="5074920"/>
            <a:ext cx="12344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4D7768"/>
                </a:solidFill>
                <a:latin typeface="Malgun Gothic"/>
              </a:rPr>
              <a:t>파트너 확장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73952"/>
            <a:ext cx="53035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94AA9A"/>
                </a:solidFill>
                <a:latin typeface="Malgun Gothic"/>
              </a:rPr>
              <a:t>EGLSLAB · SASANG MASTER HUB   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6473952"/>
            <a:ext cx="4983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00" b="0">
                <a:solidFill>
                  <a:srgbClr val="94AA9A"/>
                </a:solidFill>
                <a:latin typeface="Malgun Gothic"/>
              </a:rPr>
              <a:t>Source: chejilhub.eglslab.com · portfolio menu excluded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9A4336"/>
                </a:solidFill>
                <a:latin typeface="Malgun Gothic"/>
              </a:rPr>
              <a:t>08 · IP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57607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17231D"/>
                </a:solidFill>
                <a:latin typeface="Malgun Gothic"/>
              </a:rPr>
              <a:t>36개월 동안 연구·상품·파트너십을 단계적으로 쌓습니다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57400"/>
            <a:ext cx="53035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17231D"/>
                </a:solidFill>
                <a:latin typeface="Malgun Gothic"/>
              </a:rPr>
              <a:t>1단계: 원형 자료와 설명 기준을 정리하고
2단계: 식품·향·교육·스파 등 핵심 장면에서 파일럿을 운영하며
3단계: 검증된 프로그램을 다국어 콘텐츠와 파트너 모델로 확장합니다.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685800"/>
            <a:ext cx="5120640" cy="4937760"/>
          </a:xfrm>
          <a:prstGeom prst="roundRect">
            <a:avLst/>
          </a:prstGeom>
          <a:solidFill>
            <a:srgbClr val="FFFDF8"/>
          </a:solidFill>
          <a:ln>
            <a:solidFill>
              <a:srgbClr val="E7D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KB-0279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9980" y="868680"/>
            <a:ext cx="4502279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074920"/>
            <a:ext cx="12344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4D7768"/>
                </a:solidFill>
                <a:latin typeface="Malgun Gothic"/>
              </a:rPr>
              <a:t>0-12개월
기반 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5074920"/>
            <a:ext cx="12344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4D7768"/>
                </a:solidFill>
                <a:latin typeface="Malgun Gothic"/>
              </a:rPr>
              <a:t>13-24개월
파일럿·검증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5074920"/>
            <a:ext cx="12344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4D7768"/>
                </a:solidFill>
                <a:latin typeface="Malgun Gothic"/>
              </a:rPr>
              <a:t>25-36개월
확장·표준화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53035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94AA9A"/>
                </a:solidFill>
                <a:latin typeface="Malgun Gothic"/>
              </a:rPr>
              <a:t>EGLSLAB · SASANG MASTER HUB   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6473952"/>
            <a:ext cx="4983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00" b="0">
                <a:solidFill>
                  <a:srgbClr val="94AA9A"/>
                </a:solidFill>
                <a:latin typeface="Malgun Gothic"/>
              </a:rPr>
              <a:t>Source: chejilhub.eglslab.com · portfolio menu excluded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3B3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B-024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38395"/>
            <a:ext cx="5788152" cy="358120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06440" y="0"/>
            <a:ext cx="6382512" cy="6858000"/>
          </a:xfrm>
          <a:prstGeom prst="rect">
            <a:avLst/>
          </a:prstGeom>
          <a:solidFill>
            <a:srgbClr val="233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7315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B79558"/>
                </a:solidFill>
                <a:latin typeface="Malgun Gothic"/>
              </a:rPr>
              <a:t>09 · PARTNERSHIP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548640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DF8"/>
                </a:solidFill>
                <a:latin typeface="Malgun Gothic"/>
              </a:rPr>
              <a:t>함께 연구하고, 자료를 잇고, 사업으로 만듭니다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53949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FFFDF8"/>
                </a:solidFill>
                <a:latin typeface="Malgun Gothic"/>
              </a:rPr>
              <a:t>공동연구 · 원형자료 요청 · 강의·교육 · 제품·프로그램 공동개발
국내외 파트너십을 제안합니다.
유정근 · Ryu JeongKun
ryujean77@gmail.com  |  chejilhub.eglslab.com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53035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94AA9A"/>
                </a:solidFill>
                <a:latin typeface="Malgun Gothic"/>
              </a:rPr>
              <a:t>EGLSLAB · SASANG MASTER HUB  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6473952"/>
            <a:ext cx="4983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00" b="0">
                <a:solidFill>
                  <a:srgbClr val="94AA9A"/>
                </a:solidFill>
                <a:latin typeface="Malgun Gothic"/>
              </a:rPr>
              <a:t>Source: chejilhub.eglslab.com · portfolio menu excluded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