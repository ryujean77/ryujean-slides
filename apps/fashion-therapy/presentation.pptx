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 snapToObjects="1">
      <p:cViewPr varScale="1">
        <p:scale>
          <a:sx n="114" d="100"/>
          <a:sy n="114" d="100"/>
        </p:scale>
        <p:origin x="56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r_yim_cover_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548640"/>
            <a:ext cx="4480560" cy="5760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00584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5303C"/>
                </a:solidFill>
                <a:latin typeface="Pretendard"/>
              </a:defRPr>
            </a:pPr>
            <a:r>
              <a:t>사상체질 기반 융복합 라이프케어 특강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9436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A1A1A"/>
                </a:solidFill>
                <a:latin typeface="Pretendard"/>
              </a:defRPr>
            </a:pPr>
            <a:r>
              <a:t>체질을 알면 사람과</a:t>
            </a:r>
            <a:br/>
            <a:r>
              <a:t>건강, 미래가 보인다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97680"/>
            <a:ext cx="502252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55555"/>
                </a:solidFill>
                <a:latin typeface="Pretendard"/>
              </a:defRPr>
            </a:pPr>
            <a:r>
              <a:rPr dirty="0" err="1"/>
              <a:t>생명공학</a:t>
            </a:r>
            <a:r>
              <a:rPr dirty="0"/>
              <a:t> </a:t>
            </a:r>
            <a:r>
              <a:rPr dirty="0" err="1"/>
              <a:t>유전자</a:t>
            </a:r>
            <a:r>
              <a:rPr dirty="0"/>
              <a:t>(</a:t>
            </a:r>
            <a:r>
              <a:rPr dirty="0" err="1"/>
              <a:t>에이트진</a:t>
            </a:r>
            <a:r>
              <a:rPr dirty="0"/>
              <a:t>)</a:t>
            </a:r>
            <a:r>
              <a:rPr dirty="0" err="1"/>
              <a:t>와</a:t>
            </a:r>
            <a:r>
              <a:rPr dirty="0"/>
              <a:t> </a:t>
            </a:r>
            <a:r>
              <a:rPr dirty="0" err="1"/>
              <a:t>사상체질을</a:t>
            </a:r>
            <a:r>
              <a:rPr dirty="0"/>
              <a:t> </a:t>
            </a:r>
            <a:r>
              <a:rPr dirty="0" err="1"/>
              <a:t>주축으로</a:t>
            </a:r>
            <a:r>
              <a:rPr dirty="0"/>
              <a:t>, </a:t>
            </a:r>
            <a:endParaRPr lang="en-US" dirty="0"/>
          </a:p>
          <a:p>
            <a:pPr>
              <a:defRPr sz="1500">
                <a:solidFill>
                  <a:srgbClr val="555555"/>
                </a:solidFill>
                <a:latin typeface="Pretendard"/>
              </a:defRPr>
            </a:pPr>
            <a:r>
              <a:rPr dirty="0" err="1"/>
              <a:t>아로마와</a:t>
            </a:r>
            <a:r>
              <a:rPr dirty="0"/>
              <a:t> </a:t>
            </a:r>
            <a:r>
              <a:rPr dirty="0" err="1"/>
              <a:t>패션테라피를</a:t>
            </a:r>
            <a:r>
              <a:rPr dirty="0"/>
              <a:t> </a:t>
            </a:r>
            <a:r>
              <a:rPr dirty="0" err="1"/>
              <a:t>융합한</a:t>
            </a:r>
            <a:r>
              <a:rPr dirty="0"/>
              <a:t> </a:t>
            </a:r>
            <a:r>
              <a:rPr dirty="0" err="1"/>
              <a:t>도서관</a:t>
            </a:r>
            <a:r>
              <a:rPr dirty="0"/>
              <a:t> </a:t>
            </a:r>
            <a:r>
              <a:rPr dirty="0" err="1"/>
              <a:t>맞춤형</a:t>
            </a:r>
            <a:r>
              <a:rPr dirty="0"/>
              <a:t> </a:t>
            </a:r>
            <a:r>
              <a:rPr dirty="0" err="1"/>
              <a:t>인문학</a:t>
            </a:r>
            <a:r>
              <a:rPr dirty="0"/>
              <a:t> 힐링 </a:t>
            </a:r>
            <a:r>
              <a:rPr dirty="0" err="1"/>
              <a:t>솔루션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22960" y="5577840"/>
            <a:ext cx="5943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  <a:latin typeface="Pretendard"/>
              </a:defRPr>
            </a:pPr>
            <a:r>
              <a:t>대표 강사 임동구 박사 (Dr. Yim's 체질라이프스타일연구소) — 2026.08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5303C"/>
                </a:solidFill>
                <a:latin typeface="Pretendard"/>
              </a:defRPr>
            </a:pPr>
            <a:r>
              <a:t>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Pretendard"/>
              </a:defRPr>
            </a:pPr>
            <a:r>
              <a:t>목차 (Program Contents)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3291840" cy="4480560"/>
          </a:xfrm>
          <a:prstGeom prst="roundRect">
            <a:avLst/>
          </a:prstGeom>
          <a:solidFill>
            <a:srgbClr val="FBF9F5"/>
          </a:solidFill>
          <a:ln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3291840" cy="73152"/>
          </a:xfrm>
          <a:prstGeom prst="rect">
            <a:avLst/>
          </a:prstGeom>
          <a:solidFill>
            <a:srgbClr val="C53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C5303C"/>
                </a:solidFill>
                <a:latin typeface="Pretendard"/>
              </a:defRPr>
            </a:pPr>
            <a:r>
              <a:t>01 ★ 주 콘텐츠</a:t>
            </a:r>
          </a:p>
          <a:p>
            <a:pPr>
              <a:spcAft>
                <a:spcPts val="1200"/>
              </a:spcAft>
              <a:defRPr sz="1800" b="1">
                <a:solidFill>
                  <a:srgbClr val="1A1A1A"/>
                </a:solidFill>
                <a:latin typeface="Pretendard"/>
              </a:defRPr>
            </a:pPr>
            <a:r>
              <a:t>사상체질 &amp; 유전자 의학</a:t>
            </a:r>
          </a:p>
          <a:p>
            <a:pPr>
              <a:spcAft>
                <a:spcPts val="1600"/>
              </a:spcAft>
              <a:defRPr sz="1400">
                <a:solidFill>
                  <a:srgbClr val="555555"/>
                </a:solidFill>
                <a:latin typeface="Pretendard"/>
              </a:defRPr>
            </a:pPr>
            <a:r>
              <a:t>임동구 박사의 8-Gene 모델, 선천적 기질 진단, 체질식 및 마이크로바이옴 건강 관리</a:t>
            </a:r>
          </a:p>
          <a:p>
            <a:pPr>
              <a:defRPr sz="1100" b="1">
                <a:solidFill>
                  <a:srgbClr val="C5303C"/>
                </a:solidFill>
                <a:latin typeface="Pretendard"/>
              </a:defRPr>
            </a:pPr>
            <a:r>
              <a:t>특징: 핵심 주 강연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737360"/>
            <a:ext cx="3291840" cy="4480560"/>
          </a:xfrm>
          <a:prstGeom prst="roundRect">
            <a:avLst/>
          </a:prstGeom>
          <a:solidFill>
            <a:srgbClr val="FBF9F5"/>
          </a:solidFill>
          <a:ln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34840" y="1737360"/>
            <a:ext cx="3291840" cy="73152"/>
          </a:xfrm>
          <a:prstGeom prst="rect">
            <a:avLst/>
          </a:prstGeom>
          <a:solidFill>
            <a:srgbClr val="C53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C5303C"/>
                </a:solidFill>
                <a:latin typeface="Pretendard"/>
              </a:defRPr>
            </a:pPr>
            <a:r>
              <a:t>02 ✦ 부수 융합 1</a:t>
            </a:r>
          </a:p>
          <a:p>
            <a:pPr>
              <a:spcAft>
                <a:spcPts val="1200"/>
              </a:spcAft>
              <a:defRPr sz="1800" b="1">
                <a:solidFill>
                  <a:srgbClr val="1A1A1A"/>
                </a:solidFill>
                <a:latin typeface="Pretendard"/>
              </a:defRPr>
            </a:pPr>
            <a:r>
              <a:t>패션테라피 인문학</a:t>
            </a:r>
          </a:p>
          <a:p>
            <a:pPr>
              <a:spcAft>
                <a:spcPts val="1600"/>
              </a:spcAft>
              <a:defRPr sz="1400">
                <a:solidFill>
                  <a:srgbClr val="555555"/>
                </a:solidFill>
                <a:latin typeface="Pretendard"/>
              </a:defRPr>
            </a:pPr>
            <a:r>
              <a:t>남미화 박사의 의복과 색채 심리 치유, 퍼스널 컬러 및 자존감 회복 워크숍</a:t>
            </a:r>
          </a:p>
          <a:p>
            <a:pPr>
              <a:defRPr sz="1100" b="1">
                <a:solidFill>
                  <a:srgbClr val="C5303C"/>
                </a:solidFill>
                <a:latin typeface="Pretendard"/>
              </a:defRPr>
            </a:pPr>
            <a:r>
              <a:t>특징: 외면 · 심리 케어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291840" cy="4480560"/>
          </a:xfrm>
          <a:prstGeom prst="roundRect">
            <a:avLst/>
          </a:prstGeom>
          <a:solidFill>
            <a:srgbClr val="FBF9F5"/>
          </a:solidFill>
          <a:ln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46720" y="1737360"/>
            <a:ext cx="3291840" cy="73152"/>
          </a:xfrm>
          <a:prstGeom prst="rect">
            <a:avLst/>
          </a:prstGeom>
          <a:solidFill>
            <a:srgbClr val="C53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9202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C5303C"/>
                </a:solidFill>
                <a:latin typeface="Pretendard"/>
              </a:defRPr>
            </a:pPr>
            <a:r>
              <a:t>03 ✦ 부수 융합 2</a:t>
            </a:r>
          </a:p>
          <a:p>
            <a:pPr>
              <a:spcAft>
                <a:spcPts val="1200"/>
              </a:spcAft>
              <a:defRPr sz="1800" b="1">
                <a:solidFill>
                  <a:srgbClr val="1A1A1A"/>
                </a:solidFill>
                <a:latin typeface="Pretendard"/>
              </a:defRPr>
            </a:pPr>
            <a:r>
              <a:t>아로마 오감 힐링</a:t>
            </a:r>
          </a:p>
          <a:p>
            <a:pPr>
              <a:spcAft>
                <a:spcPts val="1600"/>
              </a:spcAft>
              <a:defRPr sz="1400">
                <a:solidFill>
                  <a:srgbClr val="555555"/>
                </a:solidFill>
                <a:latin typeface="Pretendard"/>
              </a:defRPr>
            </a:pPr>
            <a:r>
              <a:t>유정근 소장의 체질별 에센셜 오일 처방, 뇌파 안정 및 스트레스 완화 실습</a:t>
            </a:r>
          </a:p>
          <a:p>
            <a:pPr>
              <a:defRPr sz="1100" b="1">
                <a:solidFill>
                  <a:srgbClr val="C5303C"/>
                </a:solidFill>
                <a:latin typeface="Pretendard"/>
              </a:defRPr>
            </a:pPr>
            <a:r>
              <a:t>특징: 오감 · 감성 케어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5303C"/>
                </a:solidFill>
                <a:latin typeface="Pretendard"/>
              </a:defRPr>
            </a:pPr>
            <a:r>
              <a:t>01. CORE CONTENT • 주 콘텐츠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Pretendard"/>
              </a:defRPr>
            </a:pPr>
            <a:r>
              <a:t>사상체질과 유전자(에이트진)의 과학적 융복합</a:t>
            </a:r>
          </a:p>
        </p:txBody>
      </p:sp>
      <p:pic>
        <p:nvPicPr>
          <p:cNvPr id="4" name="Picture 3" descr="pen_sasang_constitu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5029200" cy="27565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737360"/>
            <a:ext cx="5267836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C5303C"/>
                </a:solidFill>
                <a:latin typeface="Pretendard"/>
              </a:defRPr>
            </a:pPr>
            <a:r>
              <a:t>선천적 유전자와 사상체질의 만남</a:t>
            </a:r>
          </a:p>
          <a:p>
            <a:pPr>
              <a:spcAft>
                <a:spcPts val="1600"/>
              </a:spcAft>
              <a:defRPr sz="1500">
                <a:solidFill>
                  <a:srgbClr val="555555"/>
                </a:solidFill>
                <a:latin typeface="Pretendard"/>
              </a:defRPr>
            </a:pPr>
            <a:r>
              <a:t>인간은 누구나 장기의 대소(大小)와 유전적 특이성을 가지고 태어납니다. 임동구 박사의 에이트진(8-Gene) 이론은 나의 체질 기질을 정확히 진단하여 가장 이상적인 라이프스타일을 설계합니다.</a:t>
            </a:r>
          </a:p>
          <a:p>
            <a:pPr>
              <a:spcBef>
                <a:spcPts val="800"/>
              </a:spcBef>
              <a:defRPr sz="1400">
                <a:solidFill>
                  <a:srgbClr val="1A1A1A"/>
                </a:solidFill>
                <a:latin typeface="Pretendard"/>
              </a:defRPr>
            </a:pPr>
            <a:r>
              <a:t>• 체질 기질 특이성 진단: 태양·태음·소양·소음인 맞춤 분석</a:t>
            </a:r>
          </a:p>
          <a:p>
            <a:pPr>
              <a:spcBef>
                <a:spcPts val="800"/>
              </a:spcBef>
              <a:defRPr sz="1400">
                <a:solidFill>
                  <a:srgbClr val="1A1A1A"/>
                </a:solidFill>
                <a:latin typeface="Pretendard"/>
              </a:defRPr>
            </a:pPr>
            <a:r>
              <a:t>• 편식의 과학(체질식): 나에게 약이 되는 음식과 독이 되는 음식 구별</a:t>
            </a:r>
          </a:p>
          <a:p>
            <a:pPr>
              <a:spcBef>
                <a:spcPts val="800"/>
              </a:spcBef>
              <a:defRPr sz="1400">
                <a:solidFill>
                  <a:srgbClr val="1A1A1A"/>
                </a:solidFill>
                <a:latin typeface="Pretendard"/>
              </a:defRPr>
            </a:pPr>
            <a:r>
              <a:t>• 장-뇌축(Gut-Brain): 마이크로바이옴 정상화로 뇌파 안정 및 치매 예방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5303C"/>
                </a:solidFill>
                <a:latin typeface="Pretendard"/>
              </a:defRPr>
            </a:pPr>
            <a:r>
              <a:t>PROVEN 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Pretendard"/>
              </a:defRPr>
            </a:pPr>
            <a:r>
              <a:t>베스트셀러 『에이트진』 기반 저자 직강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3291840" cy="4480560"/>
          </a:xfrm>
          <a:prstGeom prst="roundRect">
            <a:avLst/>
          </a:prstGeom>
          <a:solidFill>
            <a:srgbClr val="FBF9F5"/>
          </a:solidFill>
          <a:ln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3291840" cy="73152"/>
          </a:xfrm>
          <a:prstGeom prst="rect">
            <a:avLst/>
          </a:prstGeom>
          <a:solidFill>
            <a:srgbClr val="C53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/>
            </a:pPr>
            <a:r>
              <a:t>📖</a:t>
            </a:r>
          </a:p>
          <a:p>
            <a:pPr>
              <a:spcAft>
                <a:spcPts val="1200"/>
              </a:spcAft>
              <a:defRPr sz="1800" b="1">
                <a:solidFill>
                  <a:srgbClr val="1A1A1A"/>
                </a:solidFill>
                <a:latin typeface="Pretendard"/>
              </a:defRPr>
            </a:pPr>
            <a:r>
              <a:t>4대 서점 건강 베스트셀러</a:t>
            </a:r>
          </a:p>
          <a:p>
            <a:pPr>
              <a:spcAft>
                <a:spcPts val="1600"/>
              </a:spcAft>
              <a:defRPr sz="1400">
                <a:solidFill>
                  <a:srgbClr val="555555"/>
                </a:solidFill>
                <a:latin typeface="Pretendard"/>
              </a:defRPr>
            </a:pPr>
            <a:r>
              <a:t>교보문고, 예스24, 알라딘, 인터파크 건강 분야 베스트셀러 기록. 도서관 장서 대출과 직결되는 신뢰의 텍스트.</a:t>
            </a:r>
          </a:p>
          <a:p>
            <a:pPr>
              <a:defRPr sz="1100" b="1">
                <a:solidFill>
                  <a:srgbClr val="C5303C"/>
                </a:solidFill>
                <a:latin typeface="Pretendard"/>
              </a:defRPr>
            </a:pPr>
            <a:r>
              <a:t>특징: 도서관 연계 1위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737360"/>
            <a:ext cx="3291840" cy="4480560"/>
          </a:xfrm>
          <a:prstGeom prst="roundRect">
            <a:avLst/>
          </a:prstGeom>
          <a:solidFill>
            <a:srgbClr val="FBF9F5"/>
          </a:solidFill>
          <a:ln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34840" y="1737360"/>
            <a:ext cx="3291840" cy="73152"/>
          </a:xfrm>
          <a:prstGeom prst="rect">
            <a:avLst/>
          </a:prstGeom>
          <a:solidFill>
            <a:srgbClr val="C53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/>
            </a:pPr>
            <a:r>
              <a:t>🧬</a:t>
            </a:r>
          </a:p>
          <a:p>
            <a:pPr>
              <a:spcAft>
                <a:spcPts val="1200"/>
              </a:spcAft>
              <a:defRPr sz="1800" b="1">
                <a:solidFill>
                  <a:srgbClr val="1A1A1A"/>
                </a:solidFill>
                <a:latin typeface="Pretendard"/>
              </a:defRPr>
            </a:pPr>
            <a:r>
              <a:t>생명공학 박사의 과학적 접근</a:t>
            </a:r>
          </a:p>
          <a:p>
            <a:pPr>
              <a:spcAft>
                <a:spcPts val="1600"/>
              </a:spcAft>
              <a:defRPr sz="1400">
                <a:solidFill>
                  <a:srgbClr val="555555"/>
                </a:solidFill>
                <a:latin typeface="Pretendard"/>
              </a:defRPr>
            </a:pPr>
            <a:r>
              <a:t>브라질 UNICAMP 식품공학 박사이자 전 한국생명공학연구원 연구원으로서 체질의학을 현대 생명과학으로 입증.</a:t>
            </a:r>
          </a:p>
          <a:p>
            <a:pPr>
              <a:defRPr sz="1100" b="1">
                <a:solidFill>
                  <a:srgbClr val="C5303C"/>
                </a:solidFill>
                <a:latin typeface="Pretendard"/>
              </a:defRPr>
            </a:pPr>
            <a:r>
              <a:t>특징: 학술적 신뢰성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291840" cy="4480560"/>
          </a:xfrm>
          <a:prstGeom prst="roundRect">
            <a:avLst/>
          </a:prstGeom>
          <a:solidFill>
            <a:srgbClr val="FBF9F5"/>
          </a:solidFill>
          <a:ln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46720" y="1737360"/>
            <a:ext cx="3291840" cy="73152"/>
          </a:xfrm>
          <a:prstGeom prst="rect">
            <a:avLst/>
          </a:prstGeom>
          <a:solidFill>
            <a:srgbClr val="C53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9202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/>
            </a:pPr>
            <a:r>
              <a:t>🏛️</a:t>
            </a:r>
          </a:p>
          <a:p>
            <a:pPr>
              <a:spcAft>
                <a:spcPts val="1200"/>
              </a:spcAft>
              <a:defRPr sz="1800" b="1">
                <a:solidFill>
                  <a:srgbClr val="1A1A1A"/>
                </a:solidFill>
                <a:latin typeface="Pretendard"/>
              </a:defRPr>
            </a:pPr>
            <a:r>
              <a:t>누적 1,500회 현장 검증</a:t>
            </a:r>
          </a:p>
          <a:p>
            <a:pPr>
              <a:spcAft>
                <a:spcPts val="1600"/>
              </a:spcAft>
              <a:defRPr sz="1400">
                <a:solidFill>
                  <a:srgbClr val="555555"/>
                </a:solidFill>
                <a:latin typeface="Pretendard"/>
              </a:defRPr>
            </a:pPr>
            <a:r>
              <a:t>삼성전자 반도체사업부 단일 400회차, 전국 교육청 및 공공도서관 30차수 이상 출강 (평균 만족도 4.8 / 5.0).</a:t>
            </a:r>
          </a:p>
          <a:p>
            <a:pPr>
              <a:defRPr sz="1100" b="1">
                <a:solidFill>
                  <a:srgbClr val="C5303C"/>
                </a:solidFill>
                <a:latin typeface="Pretendard"/>
              </a:defRPr>
            </a:pPr>
            <a:r>
              <a:t>특징: 만족도 4.8 / 5.0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5303C"/>
                </a:solidFill>
                <a:latin typeface="Pretendard"/>
              </a:defRPr>
            </a:pPr>
            <a:r>
              <a:t>02. SUPPORTING CONTENT 1 • 부수 융합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Pretendard"/>
              </a:defRPr>
            </a:pPr>
            <a:r>
              <a:t>남미화 박사의 패션테라피 인문학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C5303C"/>
                </a:solidFill>
                <a:latin typeface="Pretendard"/>
              </a:defRPr>
            </a:pPr>
            <a:r>
              <a:t>“옷은 제2의 피부이자 영혼의 언어입니다”</a:t>
            </a:r>
          </a:p>
          <a:p>
            <a:pPr>
              <a:spcAft>
                <a:spcPts val="1600"/>
              </a:spcAft>
              <a:defRPr sz="1500">
                <a:solidFill>
                  <a:srgbClr val="555555"/>
                </a:solidFill>
                <a:latin typeface="Pretendard"/>
              </a:defRPr>
            </a:pPr>
            <a:r>
              <a:t>사상체질로 내면의 기질을 알았다면, 패션테라피는 외면의 색채와 스타일을 통해 자존감을 회복하고 당당한 에너지를 발산하도록 돕습니다.</a:t>
            </a:r>
          </a:p>
          <a:p>
            <a:pPr>
              <a:spcBef>
                <a:spcPts val="800"/>
              </a:spcBef>
              <a:defRPr sz="1400">
                <a:solidFill>
                  <a:srgbClr val="1A1A1A"/>
                </a:solidFill>
                <a:latin typeface="Pretendard"/>
              </a:defRPr>
            </a:pPr>
            <a:r>
              <a:t>• 색채 심리학: 내면의 감정을 치유하는 퍼스널 컬러 큐레이팅</a:t>
            </a:r>
          </a:p>
          <a:p>
            <a:pPr>
              <a:spcBef>
                <a:spcPts val="800"/>
              </a:spcBef>
              <a:defRPr sz="1400">
                <a:solidFill>
                  <a:srgbClr val="1A1A1A"/>
                </a:solidFill>
                <a:latin typeface="Pretendard"/>
              </a:defRPr>
            </a:pPr>
            <a:r>
              <a:t>• 자존감 회복 코디: 체형 보완을 넘어 자기 효능감을 극대화하는 스타일링</a:t>
            </a:r>
          </a:p>
          <a:p>
            <a:pPr>
              <a:spcBef>
                <a:spcPts val="800"/>
              </a:spcBef>
              <a:defRPr sz="1400">
                <a:solidFill>
                  <a:srgbClr val="1A1A1A"/>
                </a:solidFill>
                <a:latin typeface="Pretendard"/>
              </a:defRPr>
            </a:pPr>
            <a:r>
              <a:t>• 도서관 인문학 연계: 명화와 문학 속 의복 철학을 다루는 감성 특강</a:t>
            </a:r>
          </a:p>
        </p:txBody>
      </p:sp>
      <p:pic>
        <p:nvPicPr>
          <p:cNvPr id="5" name="Picture 4" descr="pen_fashion_therap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120640" cy="29126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5303C"/>
                </a:solidFill>
                <a:latin typeface="Pretendard"/>
              </a:defRPr>
            </a:pPr>
            <a:r>
              <a:t>03. SUPPORTING CONTENT 2 • 부수 융합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Pretendard"/>
              </a:defRPr>
            </a:pPr>
            <a:r>
              <a:t>유정근 소장의 아로마테라피 오감 힐링</a:t>
            </a:r>
          </a:p>
        </p:txBody>
      </p:sp>
      <p:pic>
        <p:nvPicPr>
          <p:cNvPr id="4" name="Picture 3" descr="pen_aroma_botanic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5029200" cy="27119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759662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C5303C"/>
                </a:solidFill>
                <a:latin typeface="Pretendard"/>
              </a:defRPr>
            </a:pPr>
            <a:r>
              <a:t>후각을 통해 뇌를 깨우는 자연 치유 솔루션</a:t>
            </a:r>
          </a:p>
          <a:p>
            <a:pPr>
              <a:spcAft>
                <a:spcPts val="1600"/>
              </a:spcAft>
              <a:defRPr sz="1500">
                <a:solidFill>
                  <a:srgbClr val="555555"/>
                </a:solidFill>
                <a:latin typeface="Pretendard"/>
              </a:defRPr>
            </a:pPr>
            <a:r>
              <a:t>식물의 고유한 생명력이 담긴 에센셜 오일과 체질별 향기 큐레이팅을 결합하여, 심신을 안정시키고 스트레스를 즉각적으로 해소합니다.</a:t>
            </a:r>
          </a:p>
          <a:p>
            <a:pPr>
              <a:spcBef>
                <a:spcPts val="800"/>
              </a:spcBef>
              <a:defRPr sz="1400">
                <a:solidFill>
                  <a:srgbClr val="1A1A1A"/>
                </a:solidFill>
                <a:latin typeface="Pretendard"/>
              </a:defRPr>
            </a:pPr>
            <a:r>
              <a:t>• 체질 맞춤 향기 처방: 태양·태음·소양·소음인 맞춤 에센셜 오일</a:t>
            </a:r>
          </a:p>
          <a:p>
            <a:pPr>
              <a:spcBef>
                <a:spcPts val="800"/>
              </a:spcBef>
              <a:defRPr sz="1400">
                <a:solidFill>
                  <a:srgbClr val="1A1A1A"/>
                </a:solidFill>
                <a:latin typeface="Pretendard"/>
              </a:defRPr>
            </a:pPr>
            <a:r>
              <a:t>• 오감 자극 힐링 워크숍: 강의실 가득 퍼지는 아로마 시향 및 실습</a:t>
            </a:r>
          </a:p>
          <a:p>
            <a:pPr>
              <a:spcBef>
                <a:spcPts val="800"/>
              </a:spcBef>
              <a:defRPr sz="1400">
                <a:solidFill>
                  <a:srgbClr val="1A1A1A"/>
                </a:solidFill>
                <a:latin typeface="Pretendard"/>
              </a:defRPr>
            </a:pPr>
            <a:r>
              <a:t>• 가족 소통 매개체: 가족 구성원 간의 기질 차이 이해와 힐링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5303C"/>
                </a:solidFill>
                <a:latin typeface="Pretendard"/>
              </a:defRPr>
            </a:pPr>
            <a:r>
              <a:t>04. LIBRARY 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Pretendard"/>
              </a:defRPr>
            </a:pPr>
            <a:r>
              <a:t>도서관에서 만나는 '나를 찾는 인문학 여행'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A1A1A"/>
                </a:solidFill>
                <a:latin typeface="Pretendard"/>
              </a:defRPr>
            </a:pPr>
            <a:r>
              <a:t>책을 넘어 삶을 치유하는 공공도서관</a:t>
            </a:r>
          </a:p>
          <a:p>
            <a:pPr>
              <a:spcAft>
                <a:spcPts val="1600"/>
              </a:spcAft>
              <a:defRPr sz="1500">
                <a:solidFill>
                  <a:srgbClr val="555555"/>
                </a:solidFill>
                <a:latin typeface="Pretendard"/>
              </a:defRPr>
            </a:pPr>
            <a:r>
              <a:t>공공도서관은 단순한 지식 전달 공간을 넘어 지역 주민의 삶의 질과 정신 건강을 북돋는 복합 문화 치유 공간으로 진화하고 있습니다.</a:t>
            </a:r>
          </a:p>
          <a:p>
            <a:pPr>
              <a:spcBef>
                <a:spcPts val="800"/>
              </a:spcBef>
              <a:defRPr sz="1400">
                <a:solidFill>
                  <a:srgbClr val="1A1A1A"/>
                </a:solidFill>
                <a:latin typeface="Pretendard"/>
              </a:defRPr>
            </a:pPr>
            <a:r>
              <a:t>• 지식과 체험의 결합: 인문학 도서와 연계된 참여형 힐링 워크숍</a:t>
            </a:r>
          </a:p>
          <a:p>
            <a:pPr>
              <a:spcBef>
                <a:spcPts val="800"/>
              </a:spcBef>
              <a:defRPr sz="1400">
                <a:solidFill>
                  <a:srgbClr val="1A1A1A"/>
                </a:solidFill>
                <a:latin typeface="Pretendard"/>
              </a:defRPr>
            </a:pPr>
            <a:r>
              <a:t>• 전 세대 맞춤 케어: 청년 진로부터 여성 자존감, 시니어 건강까지</a:t>
            </a:r>
          </a:p>
          <a:p>
            <a:pPr>
              <a:spcBef>
                <a:spcPts val="800"/>
              </a:spcBef>
              <a:defRPr sz="1400">
                <a:solidFill>
                  <a:srgbClr val="1A1A1A"/>
                </a:solidFill>
                <a:latin typeface="Pretendard"/>
              </a:defRPr>
            </a:pPr>
            <a:r>
              <a:t>• 도서관 이용 활성화: 강연 후 관련 장서 대출 및 재방문율 극대화</a:t>
            </a:r>
          </a:p>
        </p:txBody>
      </p:sp>
      <p:pic>
        <p:nvPicPr>
          <p:cNvPr id="5" name="Picture 4" descr="pen_library_humaniti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120640" cy="23662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5303C"/>
                </a:solidFill>
                <a:latin typeface="Pretendard"/>
              </a:defRPr>
            </a:pPr>
            <a:r>
              <a:t>CURRICULUM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Pretendard"/>
              </a:defRPr>
            </a:pPr>
            <a:r>
              <a:t>생애주기별 3-Track 맞춤형 커리큘럼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3291840" cy="4480560"/>
          </a:xfrm>
          <a:prstGeom prst="roundRect">
            <a:avLst/>
          </a:prstGeom>
          <a:solidFill>
            <a:srgbClr val="FBF9F5"/>
          </a:solidFill>
          <a:ln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3291840" cy="73152"/>
          </a:xfrm>
          <a:prstGeom prst="rect">
            <a:avLst/>
          </a:prstGeom>
          <a:solidFill>
            <a:srgbClr val="C53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/>
            </a:pPr>
            <a:r>
              <a:t>🧬</a:t>
            </a:r>
          </a:p>
          <a:p>
            <a:pPr>
              <a:spcAft>
                <a:spcPts val="1200"/>
              </a:spcAft>
              <a:defRPr sz="1800" b="1">
                <a:solidFill>
                  <a:srgbClr val="1A1A1A"/>
                </a:solidFill>
                <a:latin typeface="Pretendard"/>
              </a:defRPr>
            </a:pPr>
            <a:r>
              <a:t>Track A. 2030 청년 · 학부모</a:t>
            </a:r>
          </a:p>
          <a:p>
            <a:pPr>
              <a:spcAft>
                <a:spcPts val="1600"/>
              </a:spcAft>
              <a:defRPr sz="1400">
                <a:solidFill>
                  <a:srgbClr val="555555"/>
                </a:solidFill>
                <a:latin typeface="Pretendard"/>
              </a:defRPr>
            </a:pPr>
            <a:r>
              <a:t>[주] 임동구 박사: 사상체질 · 유전자 기반 자기이해, 학습법 및 업무 스타일 분석, 미래 진로 브랜딩 코칭.</a:t>
            </a:r>
          </a:p>
          <a:p>
            <a:pPr>
              <a:defRPr sz="1100" b="1">
                <a:solidFill>
                  <a:srgbClr val="C5303C"/>
                </a:solidFill>
                <a:latin typeface="Pretendard"/>
              </a:defRPr>
            </a:pPr>
            <a:r>
              <a:t>분야: 체질 · 진로 코칭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737360"/>
            <a:ext cx="3291840" cy="4480560"/>
          </a:xfrm>
          <a:prstGeom prst="roundRect">
            <a:avLst/>
          </a:prstGeom>
          <a:solidFill>
            <a:srgbClr val="FBF9F5"/>
          </a:solidFill>
          <a:ln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34840" y="1737360"/>
            <a:ext cx="3291840" cy="73152"/>
          </a:xfrm>
          <a:prstGeom prst="rect">
            <a:avLst/>
          </a:prstGeom>
          <a:solidFill>
            <a:srgbClr val="C53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/>
            </a:pPr>
            <a:r>
              <a:t>👗</a:t>
            </a:r>
          </a:p>
          <a:p>
            <a:pPr>
              <a:spcAft>
                <a:spcPts val="1200"/>
              </a:spcAft>
              <a:defRPr sz="1800" b="1">
                <a:solidFill>
                  <a:srgbClr val="1A1A1A"/>
                </a:solidFill>
                <a:latin typeface="Pretendard"/>
              </a:defRPr>
            </a:pPr>
            <a:r>
              <a:t>Track B. 여성 · 일반 구민</a:t>
            </a:r>
          </a:p>
          <a:p>
            <a:pPr>
              <a:spcAft>
                <a:spcPts val="1600"/>
              </a:spcAft>
              <a:defRPr sz="1400">
                <a:solidFill>
                  <a:srgbClr val="555555"/>
                </a:solidFill>
                <a:latin typeface="Pretendard"/>
              </a:defRPr>
            </a:pPr>
            <a:r>
              <a:t>[부] 남미화 박사: 패션테라피 인문학, 퍼스널 컬러 심리, 체형 맞춤 스타일링 및 자존감 회복 워크숍.</a:t>
            </a:r>
          </a:p>
          <a:p>
            <a:pPr>
              <a:defRPr sz="1100" b="1">
                <a:solidFill>
                  <a:srgbClr val="C5303C"/>
                </a:solidFill>
                <a:latin typeface="Pretendard"/>
              </a:defRPr>
            </a:pPr>
            <a:r>
              <a:t>분야: 패션 · 자존감 회복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291840" cy="4480560"/>
          </a:xfrm>
          <a:prstGeom prst="roundRect">
            <a:avLst/>
          </a:prstGeom>
          <a:solidFill>
            <a:srgbClr val="FBF9F5"/>
          </a:solidFill>
          <a:ln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46720" y="1737360"/>
            <a:ext cx="3291840" cy="73152"/>
          </a:xfrm>
          <a:prstGeom prst="rect">
            <a:avLst/>
          </a:prstGeom>
          <a:solidFill>
            <a:srgbClr val="C53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9202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/>
            </a:pPr>
            <a:r>
              <a:t>🌿</a:t>
            </a:r>
          </a:p>
          <a:p>
            <a:pPr>
              <a:spcAft>
                <a:spcPts val="1200"/>
              </a:spcAft>
              <a:defRPr sz="1800" b="1">
                <a:solidFill>
                  <a:srgbClr val="1A1A1A"/>
                </a:solidFill>
                <a:latin typeface="Pretendard"/>
              </a:defRPr>
            </a:pPr>
            <a:r>
              <a:t>Track C. 4060 시니어 힐링</a:t>
            </a:r>
          </a:p>
          <a:p>
            <a:pPr>
              <a:spcAft>
                <a:spcPts val="1600"/>
              </a:spcAft>
              <a:defRPr sz="1400">
                <a:solidFill>
                  <a:srgbClr val="555555"/>
                </a:solidFill>
                <a:latin typeface="Pretendard"/>
              </a:defRPr>
            </a:pPr>
            <a:r>
              <a:t>[주/부] 임동구 · 유정근: 체질별 건강 리모델링, 마이크로바이옴 치매 예방, 아로마 오감 힐링 실습.</a:t>
            </a:r>
          </a:p>
          <a:p>
            <a:pPr>
              <a:defRPr sz="1100" b="1">
                <a:solidFill>
                  <a:srgbClr val="C5303C"/>
                </a:solidFill>
                <a:latin typeface="Pretendard"/>
              </a:defRPr>
            </a:pPr>
            <a:r>
              <a:t>분야: 100세 건강 · 아로마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5303C"/>
                </a:solidFill>
                <a:latin typeface="Pretendard"/>
              </a:defRPr>
            </a:pPr>
            <a:r>
              <a:t>EXPERT FACULTY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1A1A"/>
                </a:solidFill>
                <a:latin typeface="Pretendard"/>
              </a:defRPr>
            </a:pPr>
            <a:r>
              <a:t>분야별 최고 권위자 강사진 구성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32918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3291840" cy="73152"/>
          </a:xfrm>
          <a:prstGeom prst="rect">
            <a:avLst/>
          </a:prstGeom>
          <a:solidFill>
            <a:srgbClr val="C53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/>
            </a:pPr>
            <a:r>
              <a:t>👨‍🔬</a:t>
            </a:r>
          </a:p>
          <a:p>
            <a:pPr>
              <a:spcAft>
                <a:spcPts val="1200"/>
              </a:spcAft>
              <a:defRPr sz="1800" b="1">
                <a:solidFill>
                  <a:srgbClr val="1A1A1A"/>
                </a:solidFill>
                <a:latin typeface="Pretendard"/>
              </a:defRPr>
            </a:pPr>
            <a:r>
              <a:t>임동구 박사 (대표 주강사)</a:t>
            </a:r>
          </a:p>
          <a:p>
            <a:pPr>
              <a:spcAft>
                <a:spcPts val="1600"/>
              </a:spcAft>
              <a:defRPr sz="1400">
                <a:solidFill>
                  <a:srgbClr val="555555"/>
                </a:solidFill>
                <a:latin typeface="Pretendard"/>
              </a:defRPr>
            </a:pPr>
            <a:r>
              <a:t>브라질 UNICAMP 식품공학 박사 / 전 한국생명공학연구원 연구원 / 베스트셀러 『에이트진』 저자 / 지역도서관 30차수+, 삼성전자 400차수 등 1,500회 출강</a:t>
            </a:r>
          </a:p>
          <a:p>
            <a:pPr>
              <a:defRPr sz="1100" b="1">
                <a:solidFill>
                  <a:srgbClr val="C5303C"/>
                </a:solidFill>
                <a:latin typeface="Pretendard"/>
              </a:defRPr>
            </a:pPr>
            <a:r>
              <a:t>분야: 식품공학 • 사상체질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737360"/>
            <a:ext cx="32918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34840" y="1737360"/>
            <a:ext cx="3291840" cy="73152"/>
          </a:xfrm>
          <a:prstGeom prst="rect">
            <a:avLst/>
          </a:prstGeom>
          <a:solidFill>
            <a:srgbClr val="C53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/>
            </a:pPr>
            <a:r>
              <a:t>👗</a:t>
            </a:r>
          </a:p>
          <a:p>
            <a:pPr>
              <a:spcAft>
                <a:spcPts val="1200"/>
              </a:spcAft>
              <a:defRPr sz="1800" b="1">
                <a:solidFill>
                  <a:srgbClr val="1A1A1A"/>
                </a:solidFill>
                <a:latin typeface="Pretendard"/>
              </a:defRPr>
            </a:pPr>
            <a:r>
              <a:t>남미화 박사 (패션테라피)</a:t>
            </a:r>
          </a:p>
          <a:p>
            <a:pPr>
              <a:spcAft>
                <a:spcPts val="1600"/>
              </a:spcAft>
              <a:defRPr sz="1400">
                <a:solidFill>
                  <a:srgbClr val="555555"/>
                </a:solidFill>
                <a:latin typeface="Pretendard"/>
              </a:defRPr>
            </a:pPr>
            <a:r>
              <a:t>퍼스널 브랜딩 • 패션 심리치료 전문가 / 의복과 컬러를 통한 자존감 회복 프로그램 창안 / 전국 지자체 및 평생교육원 인기 강사</a:t>
            </a:r>
          </a:p>
          <a:p>
            <a:pPr>
              <a:defRPr sz="1100" b="1">
                <a:solidFill>
                  <a:srgbClr val="C5303C"/>
                </a:solidFill>
                <a:latin typeface="Pretendard"/>
              </a:defRPr>
            </a:pPr>
            <a:r>
              <a:t>분야: 패션테라피 • 자존감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737360"/>
            <a:ext cx="32918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46720" y="1737360"/>
            <a:ext cx="3291840" cy="73152"/>
          </a:xfrm>
          <a:prstGeom prst="rect">
            <a:avLst/>
          </a:prstGeom>
          <a:solidFill>
            <a:srgbClr val="C53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9202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/>
            </a:pPr>
            <a:r>
              <a:t>🌿</a:t>
            </a:r>
          </a:p>
          <a:p>
            <a:pPr>
              <a:spcAft>
                <a:spcPts val="1200"/>
              </a:spcAft>
              <a:defRPr sz="1800" b="1">
                <a:solidFill>
                  <a:srgbClr val="1A1A1A"/>
                </a:solidFill>
                <a:latin typeface="Pretendard"/>
              </a:defRPr>
            </a:pPr>
            <a:r>
              <a:t>유정근 소장 (아로마힐링)</a:t>
            </a:r>
          </a:p>
          <a:p>
            <a:pPr>
              <a:spcAft>
                <a:spcPts val="1600"/>
              </a:spcAft>
              <a:defRPr sz="1400">
                <a:solidFill>
                  <a:srgbClr val="555555"/>
                </a:solidFill>
                <a:latin typeface="Pretendard"/>
              </a:defRPr>
            </a:pPr>
            <a:r>
              <a:t>한국체질라이프진흥원 이사장 / 오일랩 대표 / 동원대 평생교육원 CEO과정 교수 / 서울교통공사 • 농심 • 롯데 등 600회 출강 (만족도 4.8점)</a:t>
            </a:r>
          </a:p>
          <a:p>
            <a:pPr>
              <a:defRPr sz="1100" b="1">
                <a:solidFill>
                  <a:srgbClr val="C5303C"/>
                </a:solidFill>
                <a:latin typeface="Pretendard"/>
              </a:defRPr>
            </a:pPr>
            <a:r>
              <a:t>분야: 아로마테라피 • 힐링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5303C"/>
                </a:solidFill>
                <a:latin typeface="Pretendard"/>
              </a:defRPr>
            </a:pPr>
            <a:r>
              <a:t>ACTUAL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Pretendard"/>
              </a:defRPr>
            </a:pPr>
            <a:r>
              <a:t>전국 공공도서관 &amp; 지자체 실제 강연 포스터 레퍼런스</a:t>
            </a:r>
          </a:p>
        </p:txBody>
      </p:sp>
      <p:pic>
        <p:nvPicPr>
          <p:cNvPr id="4" name="Picture 3" descr="KakaoTalk_Photo_2026-08-21-01-42-0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246888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85216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광교홍재도서관 도서관주간</a:t>
            </a:r>
          </a:p>
        </p:txBody>
      </p:sp>
      <p:pic>
        <p:nvPicPr>
          <p:cNvPr id="6" name="Picture 5" descr="KakaoTalk_Photo_2026-08-21-01-42-49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08" y="1645920"/>
            <a:ext cx="246888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93008" y="585216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부산 해운대도서관 인문학특강</a:t>
            </a:r>
          </a:p>
        </p:txBody>
      </p:sp>
      <p:pic>
        <p:nvPicPr>
          <p:cNvPr id="8" name="Picture 7" descr="KakaoTalk_Photo_2026-08-21-01-44-14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6" y="1645920"/>
            <a:ext cx="246888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63056" y="585216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전남 구례도서관 들꽃인문학</a:t>
            </a:r>
          </a:p>
        </p:txBody>
      </p:sp>
      <p:pic>
        <p:nvPicPr>
          <p:cNvPr id="10" name="Picture 9" descr="KakaoTalk_Photo_2026-08-21-01-44-51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3104" y="1645920"/>
            <a:ext cx="2468880" cy="411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833104" y="5852160"/>
            <a:ext cx="24688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Pretendard"/>
              </a:defRPr>
            </a:pPr>
            <a:r>
              <a:t>안양시 베이비부머지원센터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3272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5600" b="1">
                <a:solidFill>
                  <a:srgbClr val="1A1A1A"/>
                </a:solidFill>
                <a:latin typeface="Pretendard"/>
              </a:defRPr>
            </a:pPr>
            <a:r>
              <a:rPr dirty="0" err="1"/>
              <a:t>도서관에서</a:t>
            </a:r>
            <a:r>
              <a:rPr dirty="0"/>
              <a:t> </a:t>
            </a:r>
            <a:r>
              <a:rPr dirty="0" err="1"/>
              <a:t>시작되는</a:t>
            </a:r>
            <a:r>
              <a:rPr dirty="0"/>
              <a:t> </a:t>
            </a:r>
            <a:r>
              <a:rPr dirty="0" err="1"/>
              <a:t>행복한</a:t>
            </a:r>
            <a:r>
              <a:rPr dirty="0"/>
              <a:t> </a:t>
            </a:r>
            <a:r>
              <a:rPr dirty="0" err="1"/>
              <a:t>변화</a:t>
            </a:r>
            <a:r>
              <a:rPr dirty="0"/>
              <a:t>.</a:t>
            </a:r>
          </a:p>
          <a:p>
            <a:pPr algn="ctr">
              <a:spcAft>
                <a:spcPts val="3200"/>
              </a:spcAft>
              <a:defRPr sz="2000">
                <a:solidFill>
                  <a:srgbClr val="555555"/>
                </a:solidFill>
                <a:latin typeface="Pretendard"/>
              </a:defRPr>
            </a:pPr>
            <a:r>
              <a:rPr dirty="0" err="1"/>
              <a:t>체질을</a:t>
            </a:r>
            <a:r>
              <a:rPr dirty="0"/>
              <a:t> </a:t>
            </a:r>
            <a:r>
              <a:rPr dirty="0" err="1"/>
              <a:t>알면</a:t>
            </a:r>
            <a:r>
              <a:rPr dirty="0"/>
              <a:t> </a:t>
            </a:r>
            <a:r>
              <a:rPr dirty="0" err="1"/>
              <a:t>건강이</a:t>
            </a:r>
            <a:r>
              <a:rPr dirty="0"/>
              <a:t> </a:t>
            </a:r>
            <a:r>
              <a:rPr dirty="0" err="1"/>
              <a:t>보이고</a:t>
            </a:r>
            <a:r>
              <a:rPr dirty="0"/>
              <a:t>, </a:t>
            </a:r>
            <a:r>
              <a:rPr dirty="0" err="1"/>
              <a:t>스타일을</a:t>
            </a:r>
            <a:r>
              <a:rPr dirty="0"/>
              <a:t> </a:t>
            </a:r>
            <a:r>
              <a:rPr dirty="0" err="1"/>
              <a:t>입으면</a:t>
            </a:r>
            <a:r>
              <a:rPr dirty="0"/>
              <a:t> </a:t>
            </a:r>
            <a:r>
              <a:rPr dirty="0" err="1"/>
              <a:t>자존감이</a:t>
            </a:r>
            <a:r>
              <a:rPr dirty="0"/>
              <a:t> </a:t>
            </a:r>
            <a:r>
              <a:rPr dirty="0" err="1"/>
              <a:t>피어납니다</a:t>
            </a:r>
            <a:r>
              <a:rPr dirty="0"/>
              <a:t>.</a:t>
            </a:r>
            <a:br>
              <a:rPr dirty="0"/>
            </a:br>
            <a:r>
              <a:rPr dirty="0"/>
              <a:t>1회 </a:t>
            </a:r>
            <a:r>
              <a:rPr lang="ko-KR" altLang="en-US" dirty="0"/>
              <a:t>파일럿 </a:t>
            </a:r>
            <a:r>
              <a:rPr dirty="0" err="1"/>
              <a:t>강연으로</a:t>
            </a:r>
            <a:r>
              <a:rPr dirty="0"/>
              <a:t> </a:t>
            </a:r>
            <a:r>
              <a:rPr dirty="0" err="1"/>
              <a:t>구민들의</a:t>
            </a:r>
            <a:r>
              <a:rPr dirty="0"/>
              <a:t> </a:t>
            </a:r>
            <a:r>
              <a:rPr dirty="0" err="1"/>
              <a:t>감동과</a:t>
            </a:r>
            <a:r>
              <a:rPr dirty="0"/>
              <a:t> </a:t>
            </a:r>
            <a:r>
              <a:rPr dirty="0" err="1"/>
              <a:t>열띤</a:t>
            </a:r>
            <a:r>
              <a:rPr dirty="0"/>
              <a:t> </a:t>
            </a:r>
            <a:r>
              <a:rPr dirty="0" err="1"/>
              <a:t>호응을</a:t>
            </a:r>
            <a:r>
              <a:rPr dirty="0"/>
              <a:t> </a:t>
            </a:r>
            <a:r>
              <a:rPr dirty="0" err="1"/>
              <a:t>직접</a:t>
            </a:r>
            <a:r>
              <a:rPr dirty="0"/>
              <a:t> </a:t>
            </a:r>
            <a:r>
              <a:rPr dirty="0" err="1"/>
              <a:t>확인해</a:t>
            </a:r>
            <a:r>
              <a:rPr dirty="0"/>
              <a:t> </a:t>
            </a:r>
            <a:r>
              <a:rPr dirty="0" err="1"/>
              <a:t>보세요</a:t>
            </a:r>
            <a:r>
              <a:rPr dirty="0"/>
              <a:t>.</a:t>
            </a:r>
          </a:p>
          <a:p>
            <a:pPr algn="ctr">
              <a:defRPr sz="1400" b="1">
                <a:solidFill>
                  <a:srgbClr val="C5303C"/>
                </a:solidFill>
                <a:latin typeface="Pretendard"/>
              </a:defRPr>
            </a:pPr>
            <a:r>
              <a:rPr dirty="0" err="1"/>
              <a:t>대표</a:t>
            </a:r>
            <a:r>
              <a:rPr dirty="0"/>
              <a:t> </a:t>
            </a:r>
            <a:r>
              <a:rPr dirty="0" err="1"/>
              <a:t>강사</a:t>
            </a:r>
            <a:r>
              <a:rPr dirty="0"/>
              <a:t> </a:t>
            </a:r>
            <a:r>
              <a:rPr dirty="0" err="1"/>
              <a:t>임동구</a:t>
            </a:r>
            <a:r>
              <a:rPr dirty="0"/>
              <a:t> </a:t>
            </a:r>
            <a:r>
              <a:rPr dirty="0" err="1"/>
              <a:t>박사</a:t>
            </a:r>
            <a:r>
              <a:rPr dirty="0"/>
              <a:t>  |  Dr. Yim's </a:t>
            </a:r>
            <a:r>
              <a:rPr dirty="0" err="1"/>
              <a:t>체질라이프스타일연구소</a:t>
            </a:r>
            <a:r>
              <a:rPr dirty="0"/>
              <a:t>  |  </a:t>
            </a:r>
            <a:r>
              <a:rPr dirty="0" err="1"/>
              <a:t>문의</a:t>
            </a:r>
            <a:r>
              <a:rPr dirty="0"/>
              <a:t>: </a:t>
            </a:r>
            <a:r>
              <a:rPr dirty="0" err="1"/>
              <a:t>jean@eglslab.com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835</Words>
  <Application>Microsoft Macintosh PowerPoint</Application>
  <PresentationFormat>와이드스크린</PresentationFormat>
  <Paragraphs>98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정근 류</cp:lastModifiedBy>
  <cp:revision>2</cp:revision>
  <dcterms:created xsi:type="dcterms:W3CDTF">2013-01-27T09:14:16Z</dcterms:created>
  <dcterms:modified xsi:type="dcterms:W3CDTF">2026-08-21T08:04:59Z</dcterms:modified>
  <cp:category/>
</cp:coreProperties>
</file>