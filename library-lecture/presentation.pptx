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4" d="100"/>
          <a:sy n="114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Arial"/>
              </a:defRPr>
            </a:pPr>
            <a:r>
              <a:t>PUBLIC LIBRARY LECTURE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0EB"/>
                </a:solidFill>
                <a:latin typeface="Arial"/>
              </a:defRPr>
            </a:pPr>
            <a:r>
              <a:t>체질을 알면 사람과 미래가 보인다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4C3D2"/>
                </a:solidFill>
                <a:latin typeface="Arial"/>
              </a:defRPr>
            </a:pPr>
            <a:r>
              <a:t>『에이트진』 저자 임동구 박사와 함께하는 도서관 이용자 대상 자기이해·진로·건강·자존감 인문학 특강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C9BAF"/>
                </a:solidFill>
                <a:latin typeface="Arial"/>
              </a:defRPr>
            </a:pPr>
            <a:r>
              <a:t>임동구 박사 · Dr. Yim's 체질라이프스타일연구소  |  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rand_mood_ope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673" y="1005840"/>
            <a:ext cx="5407846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왜 도서관인가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이용자의 일상 속, 가장 가까운 인문학 공간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Arial"/>
              </a:defRPr>
            </a:pPr>
            <a:r>
              <a:t>공공도서관 특강의 의미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도서관은 강좌·특강의 진입장벽이 가장 낮은 열린 학습 공간입니다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책과 함께하는 인문학 경험은 강연의 몰입도와 신뢰도를 자연스럽게 높입니다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생애주기별 이용자가 모두 오가는 도서관이기에 3-Track 프로그램의 확장성이 큽니다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WHY THIS 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천편일률적 교양강좌를 넘어선 과학 융합 인문학 특강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241E"/>
                </a:solidFill>
                <a:latin typeface="Arial"/>
              </a:defRPr>
            </a:pPr>
            <a:r>
              <a:t>기존 도서관 교양·인문 강좌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일방향 지식 전달 중심의 정적인 이론 강의 구성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이용자 개개인의 특성을 고려하지 않는 획일적 콘텐츠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강연 종료 후 일상 적용 및 체감 효과가 제한적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신규 이용자 유입 및 재참여율 확보에 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05295" y="19659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2410C"/>
                </a:solidFill>
                <a:latin typeface="Arial"/>
              </a:defRPr>
            </a:pPr>
            <a:r>
              <a:t>에이트진 융합 인문학 특강 (New Paradigm)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295" y="265176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유전자 분석과 전통 사상체질 의학을 접목한 『에이트진』 기반 콘텐츠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지역 공공도서관 인문학 특강 30차수 이상 진행한 검증된 강연 파트너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청년 자기이해·진로부터 시니어 건강·힐링, 여성 자존감 회복까지 생애주기별 3-Track 구성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누적 1,500회 이상 출강, 평균 만족도 4.8/5.0의 안정적 강연 품질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숫자로 증명된 검증된 강연 파트너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6285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9709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C2410C"/>
                </a:solidFill>
                <a:latin typeface="Arial"/>
              </a:defRPr>
            </a:pPr>
            <a:r>
              <a:t>1,500회+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9970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41E"/>
                </a:solidFill>
                <a:latin typeface="Arial"/>
              </a:defRPr>
            </a:pPr>
            <a:r>
              <a:t>누적 출강 횟수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9970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A6B5E"/>
                </a:solidFill>
                <a:latin typeface="Arial"/>
              </a:defRPr>
            </a:pPr>
            <a:r>
              <a:t>삼성전자 반도체사업부 400차수 이상 등 기업·공공·교육기관 통합 실적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828800"/>
            <a:ext cx="336285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7298" y="2194560"/>
            <a:ext cx="299709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C2410C"/>
                </a:solidFill>
                <a:latin typeface="Arial"/>
              </a:defRPr>
            </a:pPr>
            <a:r>
              <a:t>30차수+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298" y="3291840"/>
            <a:ext cx="29970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41E"/>
                </a:solidFill>
                <a:latin typeface="Arial"/>
              </a:defRPr>
            </a:pPr>
            <a:r>
              <a:t>지역 공공도서관 강연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298" y="3931920"/>
            <a:ext cx="29970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A6B5E"/>
                </a:solidFill>
                <a:latin typeface="Arial"/>
              </a:defRPr>
            </a:pPr>
            <a:r>
              <a:t>광교홍재도서관·구례도서관·해운대도서관 등 전국 도서관 인문학 특강 진행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828800"/>
            <a:ext cx="336285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0196" y="2194560"/>
            <a:ext cx="299709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C2410C"/>
                </a:solidFill>
                <a:latin typeface="Arial"/>
              </a:defRPr>
            </a:pPr>
            <a:r>
              <a:t>4.8/5.0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3291840"/>
            <a:ext cx="29970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41E"/>
                </a:solidFill>
                <a:latin typeface="Arial"/>
              </a:defRPr>
            </a:pPr>
            <a:r>
              <a:t>평균 만족도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3931920"/>
            <a:ext cx="29970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A6B5E"/>
                </a:solidFill>
                <a:latin typeface="Arial"/>
              </a:defRPr>
            </a:pPr>
            <a:r>
              <a:t>10년 이상 전문 강연 경력을 바탕으로 한 검증된 현장 만족도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PROGRAM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이용자 생애주기별 3-Track 인문학 프로그램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3613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[Track A] 자기개발 및 진로·적성 코칭 — 청년·학부모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93613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임동구 박사 · 30차수+ 실적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93613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진단 — 유전자·사상체질 진단으로 선천적 강점과 약점을 객관적으로 파악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분석 — 체질별 업무 스타일, 소통법, 스트레스 대응 기제 이해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해결 — 저서 『에이트진』 기반 퍼스널 브랜딩과 진로·적성 코칭 제공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645920"/>
            <a:ext cx="339333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27778" y="1920240"/>
            <a:ext cx="293613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[Track B] 맞춤형 건강 및 힐링 — 중장년·시니어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293613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시니어 인문학 실적 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34640"/>
            <a:ext cx="293613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체질별 맞춤 식습관·운동·생활습관 교정 코칭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마이크로바이옴과 뇌파 안정화, 치매 예방 정보 제공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체질로 보는 가족 건강과 세대 간 소통 힐링 특강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645920"/>
            <a:ext cx="339333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5436" y="1920240"/>
            <a:ext cx="293613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[Track C] 패션테라피 — 여성·일반 자존감 회복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514600"/>
            <a:ext cx="293613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남미화 박사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834640"/>
            <a:ext cx="293613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마음 치유 — 패션과 색채가 미치는 심리 테라피 효과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스타일링 — 체형·성향·퍼스널 컬러에 맞는 연출법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실전 적용 — 바로 쓰는 코디 제안과 자존감 회복 워크숍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rack_a_sasang_dn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512064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TRACK A · 자기이해와 진로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173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내 안의 DNA를 깨우는 사상체질 자기이해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Arial"/>
              </a:defRPr>
            </a:pPr>
            <a:r>
              <a:t>임동구 박사 · 원본 제안서 수록 일러스트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9718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태양인·소양인·태음인·소음인 4상 체질 진단으로 선천적 강점과 약점을 객관적으로 파악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체질별 업무 스타일, 소통법, 스트레스 대응 기제를 이해하는 자기분석 워크숍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저서 『에이트진』 기반 퍼스널 브랜딩과 진로·적성 코칭으로 연결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rack_b_aromatherap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3823411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TRACK B · 건강과 힐링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173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체질별 아로마테라피로 완성하는 오감 힐링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Arial"/>
              </a:defRPr>
            </a:pPr>
            <a:r>
              <a:t>유정근 소장 협업 · 원본 제안서 수록 일러스트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9718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체질에 맞는 향기 오일을 현장에서 직접 체험하는 아로마테라피 미니 워크숍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체질별 맞춤 식습관·운동·생활습관 교정과 마이크로바이옴 건강 정보 제공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체질로 보는 가족 건강과 세대 간 소통, 치매 예방 인문학 힐링 특강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rack_c_fashion_therap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3823411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TRACK C · 패션테라피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173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컬러와 스타일로 치유하는 자존감 회복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Arial"/>
              </a:defRPr>
            </a:pPr>
            <a:r>
              <a:t>남미화 박사 · 원본 제안서 수록 일러스트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9718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패션과 색채 심리학을 결합한 퍼스널 컬러 진단 및 스타일링 워크숍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체형·성향에 맞는 연출법으로 즉각적인 이미지 변화와 자신감 회복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경력단절 여성·중장년 대상 '나를 찾아가는 심리 여행'형 자존감 회복 프로그램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SPEAKER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저서와 실적으로 검증된 강연 전문가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3613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임동구 박사 — Dr. Yim's 체질라이프스타일연구소 소장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93613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브라질 UNICAMP 식품공학 박사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93613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브라질 UNICAMP 식품공학 박사(1992–1996) · 성균관대 농대 석사 · 생물자원공학 학사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전 한국생명공학연구원 연구원 · 전 브라질 ITAL연구소 초청연구원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코아셀텍 연구소장, 블루젠코리아 사외이사, 한국브라질소사이어티 문화분과위원장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645920"/>
            <a:ext cx="339333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27778" y="1920240"/>
            <a:ext cx="293613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저서 『에이트진 — 미래를 바꾸는 유전자 지도의 비밀』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293613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건강분야 베스트셀러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34640"/>
            <a:ext cx="293613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교보문고 · 예스24 · 알라딘·인터파크 건강분야 베스트셀러 동시 선정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지역도서관 강연 30차수 이상의 근간이 된 대표 콘텐츠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645920"/>
            <a:ext cx="339333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5436" y="1920240"/>
            <a:ext cx="293613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협력 전문 강사진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514600"/>
            <a:ext cx="293613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Track B·C 연계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834640"/>
            <a:ext cx="293613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유정근 소장(Track B) — 아로마테라피·오감힐링 전문, 누적 600회 출강(만족도 4.8점)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남미화 박사(Track C) — 패션·컬러 심리치료, 여성·중장년 자존감 회복 워크숍 전문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peaker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4207459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SPEAKER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현장에서 검증된 강연 전문가, 임동구 박사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Arial"/>
              </a:defRPr>
            </a:pPr>
            <a:r>
              <a:t>실제 강연 현장 사진 · 원본 제안서 수록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누적 1,500회 이상 출강, 삼성전자 반도체사업부 400차수 이상 진행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지역 공공도서관 인문학 특강 30차수 이상, 평균 만족도 4.8/5.0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이론이 아닌 현장 체험 중심의 강연으로 높은 몰입도와 재참여율 확보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PROVEN LIBRARY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포스터로 확인되는 전국 공공도서관 강연 사례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9333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3613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광교홍재도서관 (수원시)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93613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2024.4.13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93613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제60회 도서관주간 연계 "체질을 알면 사람이 보인다"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누구나 50명 대상, 가족 참여 권장형 체질 진단 워크숍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645920"/>
            <a:ext cx="339333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27778" y="1920240"/>
            <a:ext cx="293613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구례도서관 (전라남도교육청)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2514600"/>
            <a:ext cx="293613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2025.6.28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34640"/>
            <a:ext cx="293613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"들꽃 인문학" 특강 "체질을 알면 사람이 보인다"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저서 『에이트진』 연계 사상체질 전문가 초청 강연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645920"/>
            <a:ext cx="3393338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5436" y="1920240"/>
            <a:ext cx="293613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해운대도서관 (부산광역시교육청)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514600"/>
            <a:ext cx="293613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2026.7.15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834640"/>
            <a:ext cx="2936138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"주제 인문학 아카데미" 특강 "체질을 알면 사람이 보인다"</a:t>
            </a:r>
          </a:p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부산시민 80명 대상, 감정문해력 소통인문학 특강과 연계 편성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제안서 검토부터 정기 프로그램 편성까지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40280"/>
            <a:ext cx="10728655" cy="3657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24764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41E"/>
                </a:solidFill>
                <a:latin typeface="Arial"/>
              </a:defRPr>
            </a:pPr>
            <a:r>
              <a:t>제안서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247642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A6B5E"/>
                </a:solidFill>
                <a:latin typeface="Arial"/>
              </a:defRPr>
            </a:pPr>
            <a:r>
              <a:t>담당 사서·기획팀의 프로그램 제안서 검토</a:t>
            </a:r>
          </a:p>
        </p:txBody>
      </p:sp>
      <p:sp>
        <p:nvSpPr>
          <p:cNvPr id="9" name="Oval 8"/>
          <p:cNvSpPr/>
          <p:nvPr/>
        </p:nvSpPr>
        <p:spPr>
          <a:xfrm>
            <a:off x="3482263" y="2011680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2263" y="2697480"/>
            <a:ext cx="24764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41E"/>
                </a:solidFill>
                <a:latin typeface="Arial"/>
              </a:defRPr>
            </a:pPr>
            <a:r>
              <a:t>주제·차수 협의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263" y="3291840"/>
            <a:ext cx="247642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A6B5E"/>
                </a:solidFill>
                <a:latin typeface="Arial"/>
              </a:defRPr>
            </a:pPr>
            <a:r>
              <a:t>도서관 강좌 주기와 대상 연령에 맞춘 트랙·회차 협의</a:t>
            </a:r>
          </a:p>
        </p:txBody>
      </p:sp>
      <p:sp>
        <p:nvSpPr>
          <p:cNvPr id="12" name="Oval 11"/>
          <p:cNvSpPr/>
          <p:nvPr/>
        </p:nvSpPr>
        <p:spPr>
          <a:xfrm>
            <a:off x="6233007" y="2011680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697480"/>
            <a:ext cx="24764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41E"/>
                </a:solidFill>
                <a:latin typeface="Arial"/>
              </a:defRPr>
            </a:pPr>
            <a:r>
              <a:t>1회차 강연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3291840"/>
            <a:ext cx="247642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A6B5E"/>
                </a:solidFill>
                <a:latin typeface="Arial"/>
              </a:defRPr>
            </a:pPr>
            <a:r>
              <a:t>1회차 강연 진행 및 이용자 반응 확인</a:t>
            </a:r>
          </a:p>
        </p:txBody>
      </p:sp>
      <p:sp>
        <p:nvSpPr>
          <p:cNvPr id="15" name="Oval 14"/>
          <p:cNvSpPr/>
          <p:nvPr/>
        </p:nvSpPr>
        <p:spPr>
          <a:xfrm>
            <a:off x="8983751" y="2011680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3751" y="2697480"/>
            <a:ext cx="24764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241E"/>
                </a:solidFill>
                <a:latin typeface="Arial"/>
              </a:defRPr>
            </a:pPr>
            <a:r>
              <a:t>정기 프로그램 편성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751" y="3291840"/>
            <a:ext cx="2476423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7A6B5E"/>
                </a:solidFill>
                <a:latin typeface="Arial"/>
              </a:defRPr>
            </a:pPr>
            <a:r>
              <a:t>4~8주 시리즈 형태의 정기 프로그램으로 편성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도서관 문화프로그램 연계 시 기대 효과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76423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01922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문화프로그램 콘텐츠 다양화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01922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차별화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019223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과학·인문 교양과 건강을 아우르는 신규 콘텐츠로 포트폴리오 확장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2263" y="1645920"/>
            <a:ext cx="2476423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10863" y="1920240"/>
            <a:ext cx="201922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검증된 강사로 운영 리스크 최소화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0863" y="2514600"/>
            <a:ext cx="201922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안정성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0863" y="2834640"/>
            <a:ext cx="2019223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도서관 강연 30차수 이상, 평균 만족도 4.8점의 안정적 강연 품질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645920"/>
            <a:ext cx="2476423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1607" y="1920240"/>
            <a:ext cx="201922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세대별 맞춤 프로그램으로 이용자층 확대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2514600"/>
            <a:ext cx="201922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확장성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834640"/>
            <a:ext cx="2019223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청년부터 시니어까지 아우르는 트랙 구성으로 신규 이용자 유입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3751" y="1645920"/>
            <a:ext cx="2476423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2351" y="1920240"/>
            <a:ext cx="201922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C241E"/>
                </a:solidFill>
                <a:latin typeface="Arial"/>
              </a:defRPr>
            </a:pPr>
            <a:r>
              <a:t>정기 프로그램으로의 확장 가능성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351" y="2514600"/>
            <a:ext cx="201922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지속성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2351" y="2834640"/>
            <a:ext cx="2019223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7A6B5E"/>
                </a:solidFill>
                <a:latin typeface="Arial"/>
              </a:defRPr>
            </a:pPr>
            <a:r>
              <a:t>•  단발성 특강을 넘어 시리즈 프로그램으로 발전 가능한 구조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rand_mood_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5100568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10C"/>
                </a:solidFill>
                <a:latin typeface="Arial"/>
              </a:defRPr>
            </a:pPr>
            <a:r>
              <a:t>함께 만들어갈 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173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241E"/>
                </a:solidFill>
                <a:latin typeface="Arial"/>
              </a:defRPr>
            </a:pPr>
            <a:r>
              <a:t>강연이 끝난 자리에, 다시 찾아오는 도서관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2410C"/>
                </a:solidFill>
                <a:latin typeface="Arial"/>
              </a:defRPr>
            </a:pPr>
            <a:r>
              <a:t>지속 가능한 프로그램을 위하여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9718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1회차 강연에서 시작해 정기 시리즈로 이어지는 확장 구조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체험형 특강은 도서관 재방문율과 이용자 만족도를 동시에 높입니다</a:t>
            </a:r>
          </a:p>
          <a:p>
            <a:pPr>
              <a:spcAft>
                <a:spcPts val="1200"/>
              </a:spcAft>
              <a:defRPr sz="1400">
                <a:solidFill>
                  <a:srgbClr val="7A6B5E"/>
                </a:solidFill>
                <a:latin typeface="Arial"/>
              </a:defRPr>
            </a:pPr>
            <a:r>
              <a:t>•  다음 페이지의 연락처로 편성 논의를 시작해 보세요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Arial"/>
              </a:defRPr>
            </a:pPr>
            <a:r>
              <a:t>CONTACT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0EB"/>
                </a:solidFill>
                <a:latin typeface="Arial"/>
              </a:defRPr>
            </a:pPr>
            <a:r>
              <a:t>도서관 이용자의 자기이해와 건강한 미래를 함께 설계합니다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4C3D2"/>
                </a:solidFill>
                <a:latin typeface="Arial"/>
              </a:defRPr>
            </a:pPr>
            <a:r>
              <a:t>"체질을 알면 건강이 보이고, 나를 알면 미래가 보입니다." 1회차 강연 운영으로 먼저 확인해 보시길 제안드립니다.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C9BAF"/>
                </a:solidFill>
                <a:latin typeface="Arial"/>
              </a:defRPr>
            </a:pPr>
            <a:r>
              <a:t>Dr. Yim's 체질라이프스타일연구소 | jean@eglslab.com  |  2026.08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1079</Words>
  <Application>Microsoft Macintosh PowerPoint</Application>
  <PresentationFormat>와이드스크린</PresentationFormat>
  <Paragraphs>141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정근 류</cp:lastModifiedBy>
  <cp:revision>2</cp:revision>
  <dcterms:created xsi:type="dcterms:W3CDTF">2013-01-27T09:14:16Z</dcterms:created>
  <dcterms:modified xsi:type="dcterms:W3CDTF">2026-08-21T08:02:52Z</dcterms:modified>
  <cp:category/>
</cp:coreProperties>
</file>