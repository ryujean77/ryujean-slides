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905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C9A876"/>
                </a:solidFill>
              </a:defRPr>
            </a:pPr>
            <a:r>
              <a:t>THE WISDOM OF SASANG CONSTITUTION BOUTIQUE SPA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사상체질 기반 프리미엄 웰니스 스파</a:t>
            </a:r>
          </a:p>
          <a:p>
            <a:pPr>
              <a:spcAft>
                <a:spcPts val="2800"/>
              </a:spcAft>
              <a:defRPr sz="1600">
                <a:solidFill>
                  <a:srgbClr val="C9A876"/>
                </a:solidFill>
              </a:defRPr>
            </a:pPr>
            <a:r>
              <a:t>한국 고유의 사상체질 의학 × 최고급 100% 순수 에센셜 오일 × 현대 바이오 데이터 융합</a:t>
            </a:r>
          </a:p>
          <a:p>
            <a:pPr>
              <a:defRPr sz="1200">
                <a:solidFill>
                  <a:srgbClr val="DCD2BE"/>
                </a:solidFill>
              </a:defRPr>
            </a:pPr>
            <a:r>
              <a:t>• 총괄 디렉터: 유정근 (웰니스 총괄 / 전담 테라피스트 | 010-4728-9917 | ryujean77@gmail.com)</a:t>
            </a:r>
            <a:br/>
            <a:r>
              <a:t>• 학술/의학 총괄: 임동구 박사 (식품공학박사 / Dr.Yim's 체질연구소장 | 010-2323-4662 | ydoko@daum.net)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Executive Summary : 사상체질 스파 4대 핵심 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5037"/>
                </a:solidFill>
              </a:defRPr>
            </a:pPr>
            <a:r>
              <a:t>01. 사상체질 의학 과학화</a:t>
            </a:r>
          </a:p>
          <a:p>
            <a:pPr>
              <a:lnSpc>
                <a:spcPct val="120000"/>
              </a:lnSpc>
              <a:defRPr sz="1200">
                <a:solidFill>
                  <a:srgbClr val="52463C"/>
                </a:solidFill>
              </a:defRPr>
            </a:pPr>
            <a:r>
              <a:t>1894년 이제마 『동의수세보원』 장부대소(臟腑大小) 원리와 인바디/뇌파/산화질소 데이터의 완벽한 융합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37F48"/>
                </a:solidFill>
              </a:defRPr>
            </a:pPr>
            <a:r>
              <a:t>02. 10대 시그니처 테라피</a:t>
            </a:r>
          </a:p>
          <a:p>
            <a:pPr>
              <a:lnSpc>
                <a:spcPct val="120000"/>
              </a:lnSpc>
              <a:defRPr sz="1200">
                <a:solidFill>
                  <a:srgbClr val="52463C"/>
                </a:solidFill>
              </a:defRPr>
            </a:pPr>
            <a:r>
              <a:t>20분 약재 족욕, 은반지 의전, 80분 이원화 바디(한의 수기+순수 오일), 1시간 심부 온열, 태극선법 기체조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5037"/>
                </a:solidFill>
              </a:defRPr>
            </a:pPr>
            <a:r>
              <a:t>03. 12시간 단식 &amp; 맞춤 섭생</a:t>
            </a:r>
          </a:p>
          <a:p>
            <a:pPr>
              <a:lnSpc>
                <a:spcPct val="120000"/>
              </a:lnSpc>
              <a:defRPr sz="1200">
                <a:solidFill>
                  <a:srgbClr val="52463C"/>
                </a:solidFill>
              </a:defRPr>
            </a:pPr>
            <a:r>
              <a:t>18:00~06:00 단식을 통한 자가포식(Autophagy) 활성화 및 기상 후 4대 체질 맞춤 영양 미역국 조식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37F48"/>
                </a:solidFill>
              </a:defRPr>
            </a:pPr>
            <a:r>
              <a:t>04. VIP 평생 LTV 모델</a:t>
            </a:r>
          </a:p>
          <a:p>
            <a:pPr>
              <a:lnSpc>
                <a:spcPct val="120000"/>
              </a:lnSpc>
              <a:defRPr sz="1200">
                <a:solidFill>
                  <a:srgbClr val="52463C"/>
                </a:solidFill>
              </a:defRPr>
            </a:pPr>
            <a:r>
              <a:t>DTC 유전자 및 마이크로바이옴 검사 연동, 7일 후 1:1 바이오 리포트, 월간 맞춤 오일 정기구독(LRP) 생태계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글로벌 웰니스 시장(GWI)과 3세대 처방형 스파의 급부상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663440"/>
          </a:xfrm>
          <a:prstGeom prst="roundRect">
            <a:avLst/>
          </a:prstGeom>
          <a:solidFill>
            <a:srgbClr val="1A3328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C9A876"/>
                </a:solidFill>
              </a:defRPr>
            </a:pPr>
            <a:r>
              <a:t>GLOBAL WELLNESS 2026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$7.0 Trillion</a:t>
            </a:r>
          </a:p>
          <a:p>
            <a:pPr>
              <a:lnSpc>
                <a:spcPct val="130000"/>
              </a:lnSpc>
              <a:defRPr sz="1200">
                <a:solidFill>
                  <a:srgbClr val="D2C8B4"/>
                </a:solidFill>
              </a:defRPr>
            </a:pPr>
            <a:r>
              <a:t>연평균 8.6% 초고속 성장 중인 글로벌 웰니스 이코노미(약 9,500조 원). 글로벌 VIP 고객층은 단순 휴식을 넘어 '생체 데이터를 기반으로 내 몸을 리셋하는 처방형 스파'에 지갑을 열고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54480"/>
            <a:ext cx="69494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41E19"/>
                </a:solidFill>
              </a:defRPr>
            </a:pPr>
            <a:r>
              <a:t>스파 패러다임의 3단계 진화</a:t>
            </a:r>
          </a:p>
          <a:p>
            <a:pPr>
              <a:lnSpc>
                <a:spcPct val="130000"/>
              </a:lnSpc>
              <a:defRPr sz="1200">
                <a:solidFill>
                  <a:srgbClr val="52463C"/>
                </a:solidFill>
              </a:defRPr>
            </a:pPr>
            <a:r>
              <a:t>• 1세대 (휴식형): 서양식 스웨디시, 단순 근육 이완 (차별화 한계)</a:t>
            </a:r>
            <a:br/>
            <a:r>
              <a:t>• 2세대 (시설/메디컬형): 5성급 리조트 하드웨어 및 의료 시술 결합 (고비용/부작용 리스크)</a:t>
            </a:r>
            <a:br/>
            <a:r>
              <a:t>• 👑 3세대 (초개인화 처방형): 생체 데이터 기반 사상체질 맞춤 신체 리셋 (사상체질 스파)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023360"/>
            <a:ext cx="6949440" cy="2194560"/>
          </a:xfrm>
          <a:prstGeom prst="roundRect">
            <a:avLst/>
          </a:prstGeom>
          <a:solidFill>
            <a:srgbClr val="F8F5EE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20624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A37F48"/>
                </a:solidFill>
              </a:defRPr>
            </a:pPr>
            <a:r>
              <a:t>인도 아유르베다(3도샤) 대비 사상체질의 비교 우위</a:t>
            </a:r>
          </a:p>
          <a:p>
            <a:pPr>
              <a:lnSpc>
                <a:spcPct val="130000"/>
              </a:lnSpc>
              <a:defRPr sz="1200">
                <a:solidFill>
                  <a:srgbClr val="52463C"/>
                </a:solidFill>
              </a:defRPr>
            </a:pPr>
            <a:r>
              <a:t>• 아유르베다: 3도샤(바타/피타/카파) 에너지의 철학적 분류 및 중금속 약재 안전성 논란</a:t>
            </a:r>
            <a:br/>
            <a:r>
              <a:t>• 사상체질 스파: 간·폐·비·신 장부대소 해부생리학적 균형점 + 최고급 순수 에센셜 오일과 12시간 단식으로 부작용 0% 실현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4대 사상체질 심층 처방 매트릭스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37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37F48"/>
                </a:solidFill>
              </a:defRPr>
            </a:pPr>
            <a:r>
              <a:t>태음인 (肝大肺小)</a:t>
            </a:r>
          </a:p>
          <a:p>
            <a:pPr>
              <a:lnSpc>
                <a:spcPct val="125000"/>
              </a:lnSpc>
              <a:defRPr sz="1100">
                <a:solidFill>
                  <a:srgbClr val="241E19"/>
                </a:solidFill>
              </a:defRPr>
            </a:pPr>
            <a:r>
              <a:t>• 장부 특성: 간 기능 왕성, 폐/기관지 허약</a:t>
            </a:r>
            <a:br/>
            <a:r>
              <a:t>• 취약 증상: 목 답답함, 피부 건조, 림프 정체</a:t>
            </a:r>
            <a:br/>
            <a:r>
              <a:t>• 오일 처방: 유칼립투스, 이지에어, 샌달우드</a:t>
            </a:r>
            <a:br/>
            <a:r>
              <a:t>• 맞춤 식단: 소고기 양지 들깨 미역국 + 율무밥</a:t>
            </a:r>
            <a:br/>
            <a:r>
              <a:t>• 의전 세팅: 황색 가운 + 우측 4지 은반지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5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5037"/>
                </a:solidFill>
              </a:defRPr>
            </a:pPr>
            <a:r>
              <a:t>소양인 (脾大腎小)</a:t>
            </a:r>
          </a:p>
          <a:p>
            <a:pPr>
              <a:lnSpc>
                <a:spcPct val="125000"/>
              </a:lnSpc>
              <a:defRPr sz="1100">
                <a:solidFill>
                  <a:srgbClr val="241E19"/>
                </a:solidFill>
              </a:defRPr>
            </a:pPr>
            <a:r>
              <a:t>• 장부 특성: 소화기 열 많음, 신장 음기 허약</a:t>
            </a:r>
            <a:br/>
            <a:r>
              <a:t>• 취약 증상: 상체 열감, 두통, 가슴 답답, 불면</a:t>
            </a:r>
            <a:br/>
            <a:r>
              <a:t>• 오일 처방: 페퍼민트, 라벤더, 세레니티</a:t>
            </a:r>
            <a:br/>
            <a:r>
              <a:t>• 맞춤 식단: 돼지고기 수육 / 조개 미역국</a:t>
            </a:r>
            <a:br/>
            <a:r>
              <a:t>• 의전 세팅: 청색 가운 + 좌측 2지 은반지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37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37F48"/>
                </a:solidFill>
              </a:defRPr>
            </a:pPr>
            <a:r>
              <a:t>소음인 (腎大脾小)</a:t>
            </a:r>
          </a:p>
          <a:p>
            <a:pPr>
              <a:lnSpc>
                <a:spcPct val="125000"/>
              </a:lnSpc>
              <a:defRPr sz="1100">
                <a:solidFill>
                  <a:srgbClr val="241E19"/>
                </a:solidFill>
              </a:defRPr>
            </a:pPr>
            <a:r>
              <a:t>• 장부 특성: 신장 기능 튼튼, 비위 차고 약함</a:t>
            </a:r>
            <a:br/>
            <a:r>
              <a:t>• 취약 증상: 수족냉증, 만성 소화불량, 피로</a:t>
            </a:r>
            <a:br/>
            <a:r>
              <a:t>• 오일 처방: 온가드, 진저, 시나몬, 오렌지</a:t>
            </a:r>
            <a:br/>
            <a:r>
              <a:t>• 맞춤 식단: 닭가슴살 황기 보양 미역국</a:t>
            </a:r>
            <a:br/>
            <a:r>
              <a:t>• 의전 세팅: 백색 가운 + 우측 3지 은반지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5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5037"/>
                </a:solidFill>
              </a:defRPr>
            </a:pPr>
            <a:r>
              <a:t>태양인 (肺大肝小)</a:t>
            </a:r>
          </a:p>
          <a:p>
            <a:pPr>
              <a:lnSpc>
                <a:spcPct val="125000"/>
              </a:lnSpc>
              <a:defRPr sz="1100">
                <a:solidFill>
                  <a:srgbClr val="241E19"/>
                </a:solidFill>
              </a:defRPr>
            </a:pPr>
            <a:r>
              <a:t>• 장부 특성: 폐 기능 강함, 간 해독/하체 허약</a:t>
            </a:r>
            <a:br/>
            <a:r>
              <a:t>• 취약 증상: 상기증, 목덜미 뻣뻣, 하지 무력</a:t>
            </a:r>
            <a:br/>
            <a:r>
              <a:t>• 오일 처방: 베티버, 프랑킨센스, 레몬</a:t>
            </a:r>
            <a:br/>
            <a:r>
              <a:t>• 맞춤 식단: 완도산 전복 홍합 맑은 해물 미역국</a:t>
            </a:r>
            <a:br/>
            <a:r>
              <a:t>• 의전 세팅: 적색 가운 + 좌측 4지 은반지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10대 시그니처 테라피 가이드 (Part 1: Themes 01 ~ 05)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01. 웰컴 오리엔테이션  |  프라이빗 다실 1:1 상담 및 4대 체질 맞춤 웰컴 티(소음 38℃ 대추계피차 ~ 소양 상온 구기자차) 제공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96896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02. 20분 맞춤 약재 족욕  |  두한족열(頭寒足熱) 순환 개방. 온열탕(41℃ 당귀/생강) vs 쿨링탕(38.5℃ 박하/결명자) + 순수 에센셜 오일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9856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958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03. 에너지 테라피 &amp; 은반지  |  사상체질 경락별 은반지(Eun-banji) 착용 및 4대 조화 가운을 통한 스태프 비언어 맞춤 의전 시스템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52544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04. 푸드 테라피 (12h 단식)  |  저녁 18:00~익일 06:00 12시간 단식(자가포식) 후 기상 직후 4대 체질 맞춤 영양 미역국 조식 정식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85232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05. 80분 이원화 바디 테라피  |  1단계 한의학 경락 수기 지압(30분)으로 순환로 개방 + 2단계 최고급 100% 순수 에센셜 오일 림프 드레나쥐(50분)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10대 시그니처 테라피 가이드 (Part 2: Themes 06 ~ 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06. 티 테라피 &amp; 침묵 명상  |  무형문화재 장인 도자기 전통 다기 우림 시연 및 30분 무언 침묵 명상 (부교감 신경 활성도 40% 상승)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96896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07. 수(水) 테라피 (산화질소)  |  고농도 산화질소(NO) 수 1.5L 정량 음용을 통한 혈관 확장 및 15분 전신 고압 나노 미스트 챔버 입실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9856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958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08. 온열 테라피 (체온 1℃ 상승)  |  척추 전용 온열 오일 도포 후 42~45℃ 원적외선 챔버 1시간 입실 (심부 체온 1℃ 상승, 면역 NK세포 5배 증대)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52544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09. 전통 기체조 (태극선법)  |  서양식 필라테스를 배제하고 단전 호흡으로 탁기를 배출하며 기(氣)의 자연스러운 흐름을 복원하는 태극선법 8초식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85232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10. 멘탈 관리 (한국 정통 고요 명상)  |  서양식 싱잉볼을 배제하고 한국 전통 사찰과 선도(仙道)의 고요한 침묵 명상으로 뇌 피로도 70% 감소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슈리베다식 푸드 테라피 : 12시간 단식 &amp; 4대 체질 미역국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A3328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C9A876"/>
                </a:solidFill>
              </a:defRPr>
            </a:pPr>
            <a:r>
              <a:t>12시간 단식 자가포식(Autophagy) 프로토콜</a:t>
            </a:r>
          </a:p>
          <a:p>
            <a:pPr>
              <a:lnSpc>
                <a:spcPct val="135000"/>
              </a:lnSpc>
              <a:defRPr sz="1200">
                <a:solidFill>
                  <a:srgbClr val="DCD7C8"/>
                </a:solidFill>
              </a:defRPr>
            </a:pPr>
            <a:r>
              <a:t>• 18:00 저녁 약선 식사 종료 및 12시간 단식 돌입</a:t>
            </a:r>
            <a:br/>
            <a:r>
              <a:t>• 20:00 산화질소(NO) 수 음용 &amp; 30분 침묵 명상</a:t>
            </a:r>
            <a:br/>
            <a:r>
              <a:t>• 06:00 12시간 단식 완료 ➔ 기상 직후 미온수 &amp; 체질 주스</a:t>
            </a:r>
            <a:br/>
            <a:r>
              <a:t>• 07:30 4대 체질 맞춤 영양 미역국 조식 정식 제공</a:t>
            </a:r>
            <a:br/>
            <a:br/>
            <a:r>
              <a:t>💡 자가포식 효과: 12시간 동안 소화기를 완전히 쉬게 함으로써 세포 내 손상된 단백질과 노폐물을 청소하고 장내 미생물 환경을 리셋합니다.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41E19"/>
                </a:solidFill>
              </a:defRPr>
            </a:pPr>
            <a:r>
              <a:t>4대 체질 맞춤 프리미엄 미역국 조식</a:t>
            </a:r>
          </a:p>
          <a:p>
            <a:pPr>
              <a:spcAft>
                <a:spcPts val="600"/>
              </a:spcAft>
              <a:defRPr sz="1150">
                <a:solidFill>
                  <a:srgbClr val="52463C"/>
                </a:solidFill>
              </a:defRPr>
            </a:pPr>
            <a:r>
              <a:t>• 태음인: 소고기 양지 들깨 미역국 + 율무밥 (폐/기관지 윤활 &amp; 고단백)</a:t>
            </a:r>
          </a:p>
          <a:p>
            <a:pPr>
              <a:spcAft>
                <a:spcPts val="600"/>
              </a:spcAft>
              <a:defRPr sz="1150">
                <a:solidFill>
                  <a:srgbClr val="52463C"/>
                </a:solidFill>
              </a:defRPr>
            </a:pPr>
            <a:r>
              <a:t>• 소양인: 맑은 돼지고기 수육 미역국 or 조개 미역국 + 보리밥 (소화기 열 해독)</a:t>
            </a:r>
          </a:p>
          <a:p>
            <a:pPr>
              <a:spcAft>
                <a:spcPts val="600"/>
              </a:spcAft>
              <a:defRPr sz="1150">
                <a:solidFill>
                  <a:srgbClr val="52463C"/>
                </a:solidFill>
              </a:defRPr>
            </a:pPr>
            <a:r>
              <a:t>• 소음인: 닭가슴살 황기 보양 미역국 + 찹쌀밥 (위장 보온 &amp; 기력 증진)</a:t>
            </a:r>
          </a:p>
          <a:p>
            <a:pPr>
              <a:spcAft>
                <a:spcPts val="600"/>
              </a:spcAft>
              <a:defRPr sz="1150">
                <a:solidFill>
                  <a:srgbClr val="52463C"/>
                </a:solidFill>
              </a:defRPr>
            </a:pPr>
            <a:r>
              <a:t>• 태양인: 완도산 전복 홍합 맑은 해물 미역국 + 메밀죽 (간 해독 &amp; 하체 강화)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데이터 기반 4단계 정밀 분석 및 체질 확정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7F4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400" b="1">
                <a:solidFill>
                  <a:srgbClr val="241E19"/>
                </a:solidFill>
              </a:defRPr>
            </a:pPr>
            <a:r>
              <a:t>기초 생체 &amp; 병력 문진표</a:t>
            </a:r>
          </a:p>
          <a:p>
            <a:pPr>
              <a:lnSpc>
                <a:spcPct val="130000"/>
              </a:lnSpc>
              <a:defRPr sz="1100">
                <a:solidFill>
                  <a:srgbClr val="52463C"/>
                </a:solidFill>
              </a:defRPr>
            </a:pPr>
            <a:r>
              <a:t>• 혈압, 공복 혈당, 가족력(심혈관/암)</a:t>
            </a:r>
            <a:br/>
            <a:r>
              <a:t>• 담낭 절제 등 주요 수술력 기록</a:t>
            </a:r>
            <a:br/>
            <a:r>
              <a:t>• 개인별 알레르기 인자 전방위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7F4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400" b="1">
                <a:solidFill>
                  <a:srgbClr val="241E19"/>
                </a:solidFill>
              </a:defRPr>
            </a:pPr>
            <a:r>
              <a:t>인바디 &amp; 양자/뇌파(EEG)</a:t>
            </a:r>
          </a:p>
          <a:p>
            <a:pPr>
              <a:lnSpc>
                <a:spcPct val="130000"/>
              </a:lnSpc>
              <a:defRPr sz="1100">
                <a:solidFill>
                  <a:srgbClr val="52463C"/>
                </a:solidFill>
              </a:defRPr>
            </a:pPr>
            <a:r>
              <a:t>• InBody 770 체수분율 &amp; 림프 정체</a:t>
            </a:r>
            <a:br/>
            <a:r>
              <a:t>• 장부 에너지 과부하/결핍 판독</a:t>
            </a:r>
            <a:br/>
            <a:r>
              <a:t>• High-Beta파 68% 뇌 피로 지수 측정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7F4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400" b="1">
                <a:solidFill>
                  <a:srgbClr val="241E19"/>
                </a:solidFill>
              </a:defRPr>
            </a:pPr>
            <a:r>
              <a:t>산화질소(NO) 관리</a:t>
            </a:r>
          </a:p>
          <a:p>
            <a:pPr>
              <a:lnSpc>
                <a:spcPct val="130000"/>
              </a:lnSpc>
              <a:defRPr sz="1100">
                <a:solidFill>
                  <a:srgbClr val="52463C"/>
                </a:solidFill>
              </a:defRPr>
            </a:pPr>
            <a:r>
              <a:t>• 타액 NO 산화질소 스트립 판독</a:t>
            </a:r>
            <a:br/>
            <a:r>
              <a:t>• 혈관 탄성도 측정 및 결핍 진단</a:t>
            </a:r>
            <a:br/>
            <a:r>
              <a:t>• 1일 1.5L 음용 &amp; 나노 미스트 처방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5603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7F48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400" b="1">
                <a:solidFill>
                  <a:srgbClr val="241E19"/>
                </a:solidFill>
              </a:defRPr>
            </a:pPr>
            <a:r>
              <a:t>사상체질 최종 확정</a:t>
            </a:r>
          </a:p>
          <a:p>
            <a:pPr>
              <a:lnSpc>
                <a:spcPct val="130000"/>
              </a:lnSpc>
              <a:defRPr sz="1100">
                <a:solidFill>
                  <a:srgbClr val="52463C"/>
                </a:solidFill>
              </a:defRPr>
            </a:pPr>
            <a:r>
              <a:t>• 태음/소양/소음/태양 장부 확정</a:t>
            </a:r>
            <a:br/>
            <a:r>
              <a:t>• 1:1 맞춤 VIP 웹 처방전 발행</a:t>
            </a:r>
            <a:br/>
            <a:r>
              <a:t>• 은반지 착용 및 4대 컬러 가운 배정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VIP 맞춤형 4대 체류 프로그램 (Stay Programs)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A37F48"/>
                </a:solidFill>
              </a:defRPr>
            </a:pPr>
            <a:r>
              <a:t>2박 3일 (단기 리프레시)</a:t>
            </a:r>
          </a:p>
          <a:p>
            <a:pPr>
              <a:lnSpc>
                <a:spcPct val="120000"/>
              </a:lnSpc>
              <a:defRPr sz="1100">
                <a:solidFill>
                  <a:srgbClr val="52463C"/>
                </a:solidFill>
              </a:defRPr>
            </a:pPr>
            <a:r>
              <a:t>• 대상: 주말 힐링 VIP, 비즈니스 출장객</a:t>
            </a:r>
            <a:br/>
            <a:r>
              <a:t>• 플로우: 진단 ➔ 족욕 ➔ 80분 바디 ➔ 12h 단식 ➔ 태극선법 ➔ 나노 미스트</a:t>
            </a:r>
            <a:br/>
            <a:r>
              <a:t>• 효과: 뇌 피로 70% 감소, 근육 긴장 완화, 숙면 유도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A37F48"/>
                </a:solidFill>
              </a:defRPr>
            </a:pPr>
            <a:r>
              <a:t>5박 6일 (중기 디톡스)</a:t>
            </a:r>
          </a:p>
          <a:p>
            <a:pPr>
              <a:lnSpc>
                <a:spcPct val="120000"/>
              </a:lnSpc>
              <a:defRPr sz="1100">
                <a:solidFill>
                  <a:srgbClr val="52463C"/>
                </a:solidFill>
              </a:defRPr>
            </a:pPr>
            <a:r>
              <a:t>• 대상: 만성 피로 및 림프 부종 보유자</a:t>
            </a:r>
            <a:br/>
            <a:r>
              <a:t>• 플로우: 1~3일 림프 배농 &amp; 온열(체온 1℃ 상승) ➔ 4~6일 마이크로바이옴 &amp; 기체조</a:t>
            </a:r>
            <a:br/>
            <a:r>
              <a:t>• 효과: 림프 정체 85% 개선, 안색 정화, 활력 복원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A37F48"/>
                </a:solidFill>
              </a:defRPr>
            </a:pPr>
            <a:r>
              <a:t>15박 16일 (장기 리셋)</a:t>
            </a:r>
          </a:p>
          <a:p>
            <a:pPr>
              <a:lnSpc>
                <a:spcPct val="120000"/>
              </a:lnSpc>
              <a:defRPr sz="1100">
                <a:solidFill>
                  <a:srgbClr val="52463C"/>
                </a:solidFill>
              </a:defRPr>
            </a:pPr>
            <a:r>
              <a:t>• 대상: 대사증후군 개선 희망 기업 최고경영진</a:t>
            </a:r>
            <a:br/>
            <a:r>
              <a:t>• 플로우: DTC 유전자 검사 ➔ 10대 테마 매일 순환 ➔ 1:1 라이프스타일 매뉴얼북</a:t>
            </a:r>
            <a:br/>
            <a:r>
              <a:t>• 효과: 면역 나이 5년 리셋, 평생 섭생 습관 정착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A37F48"/>
                </a:solidFill>
              </a:defRPr>
            </a:pPr>
            <a:r>
              <a:t>1개월 (특수 집중 케어)</a:t>
            </a:r>
          </a:p>
          <a:p>
            <a:pPr>
              <a:lnSpc>
                <a:spcPct val="120000"/>
              </a:lnSpc>
              <a:defRPr sz="1100">
                <a:solidFill>
                  <a:srgbClr val="52463C"/>
                </a:solidFill>
              </a:defRPr>
            </a:pPr>
            <a:r>
              <a:t>• 대상: 수술 후 회복기 고객, 고령 시니어 VIP</a:t>
            </a:r>
            <a:br/>
            <a:r>
              <a:t>• 플로우: 37.5℃ 무자극 족욕 ➔ 프랑킨센스 세포 진정 ➔ 면역 NK세포 증대</a:t>
            </a:r>
            <a:br/>
            <a:r>
              <a:t>• 시설: 프라이빗 단독 빌라 및 메디컬 스파 룸 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VIP 멤버십 &amp; 바이오 LTV 비즈니스 모델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8F5EE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5037"/>
                </a:solidFill>
              </a:defRPr>
            </a:pPr>
            <a:r>
              <a:t>Step 01. 스파 방문 &amp; 키트 채취</a:t>
            </a:r>
          </a:p>
          <a:p>
            <a:pPr>
              <a:lnSpc>
                <a:spcPct val="135000"/>
              </a:lnSpc>
              <a:defRPr sz="1200">
                <a:solidFill>
                  <a:srgbClr val="52463C"/>
                </a:solidFill>
              </a:defRPr>
            </a:pPr>
            <a:r>
              <a:t>스파 체크인 시 타액 및 장내 미생물(마이크로바이옴) 키트를 채취하여 전문 분석 기관에 실시간 의뢰.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383280" cy="4663440"/>
          </a:xfrm>
          <a:prstGeom prst="roundRect">
            <a:avLst/>
          </a:prstGeom>
          <a:solidFill>
            <a:srgbClr val="F8F5EE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5037"/>
                </a:solidFill>
              </a:defRPr>
            </a:pPr>
            <a:r>
              <a:t>Step 02. 모바일 바이오 리포트</a:t>
            </a:r>
          </a:p>
          <a:p>
            <a:pPr>
              <a:lnSpc>
                <a:spcPct val="135000"/>
              </a:lnSpc>
              <a:defRPr sz="1200">
                <a:solidFill>
                  <a:srgbClr val="52463C"/>
                </a:solidFill>
              </a:defRPr>
            </a:pPr>
            <a:r>
              <a:t>7일 후 전용 모바일 웹으로 초개인화 유전체 &amp; 장내 균총 분석 리포트 및 식음 가이드라인 발행.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54480"/>
            <a:ext cx="3383280" cy="4663440"/>
          </a:xfrm>
          <a:prstGeom prst="roundRect">
            <a:avLst/>
          </a:prstGeom>
          <a:solidFill>
            <a:srgbClr val="F8F5EE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5037"/>
                </a:solidFill>
              </a:defRPr>
            </a:pPr>
            <a:r>
              <a:t>Step 03. 월간 맞춤 오일 정기구독(LRP)</a:t>
            </a:r>
          </a:p>
          <a:p>
            <a:pPr>
              <a:lnSpc>
                <a:spcPct val="135000"/>
              </a:lnSpc>
              <a:defRPr sz="1200">
                <a:solidFill>
                  <a:srgbClr val="52463C"/>
                </a:solidFill>
              </a:defRPr>
            </a:pPr>
            <a:r>
              <a:t>일상 복귀 후에도 체질 맞춤 최고급 100% 순수 에센셜 오일과 섭생 제품을 매월 정기 배송하는 고수익 구독 모델.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호텔 · 리조트 턴키(Turn-Key) 파트너십 스펙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A37F48"/>
                </a:solidFill>
              </a:defRPr>
            </a:pPr>
            <a:r>
              <a:t>01. 공간 플로어플랜 표준화</a:t>
            </a:r>
          </a:p>
          <a:p>
            <a:pPr>
              <a:defRPr sz="1150">
                <a:solidFill>
                  <a:srgbClr val="52463C"/>
                </a:solidFill>
              </a:defRPr>
            </a:pPr>
            <a:r>
              <a:t>리셉션, 다실, 진단실, 프라이빗 스파 스위트, 온열 챔버 존의 인테리어 및 동선 설계 매뉴얼 제공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728655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A37F48"/>
                </a:solidFill>
              </a:defRPr>
            </a:pPr>
            <a:r>
              <a:t>02. 테라피스트 마스터 아카데미</a:t>
            </a:r>
          </a:p>
          <a:p>
            <a:pPr>
              <a:defRPr sz="1150">
                <a:solidFill>
                  <a:srgbClr val="52463C"/>
                </a:solidFill>
              </a:defRPr>
            </a:pPr>
            <a:r>
              <a:t>사상체질 장부대소 이론, 순수 에센셜 오일 처방, 한의 수기 지압 프로토콜 전문 교육 및 인증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776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A37F48"/>
                </a:solidFill>
              </a:defRPr>
            </a:pPr>
            <a:r>
              <a:t>03. 스마트 CRM 모바일 시스템</a:t>
            </a:r>
          </a:p>
          <a:p>
            <a:pPr>
              <a:defRPr sz="1150">
                <a:solidFill>
                  <a:srgbClr val="52463C"/>
                </a:solidFill>
              </a:defRPr>
            </a:pPr>
            <a:r>
              <a:t>고객별 체질 데이터 누적, 모바일 웹 처방전 자동 발행 및 B2B 리드 관리 시스템 완비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8655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A37F48"/>
                </a:solidFill>
              </a:defRPr>
            </a:pPr>
            <a:r>
              <a:t>04. 다각화된 수익 쉐어 모델</a:t>
            </a:r>
          </a:p>
          <a:p>
            <a:pPr>
              <a:defRPr sz="1150">
                <a:solidFill>
                  <a:srgbClr val="52463C"/>
                </a:solidFill>
              </a:defRPr>
            </a:pPr>
            <a:r>
              <a:t>스파 트리트먼트 객단가 극대화 + 체질 맞춤 굿즈 커머스 + 바이오 구독(LRP) 정산 턴키 패키지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K-PREMIUM WELLNESS SPA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9"/>
                </a:solidFill>
              </a:defRPr>
            </a:pPr>
            <a:r>
              <a:t>총괄 연구진 및 디렉터 프로필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37F48"/>
                </a:solidFill>
              </a:defRPr>
            </a:pPr>
            <a:r>
              <a:t>WELLNESS MASTER DIRECTOR</a:t>
            </a:r>
          </a:p>
          <a:p>
            <a:pPr>
              <a:spcAft>
                <a:spcPts val="1000"/>
              </a:spcAft>
              <a:defRPr sz="2400" b="1">
                <a:solidFill>
                  <a:srgbClr val="241E19"/>
                </a:solidFill>
              </a:defRPr>
            </a:pPr>
            <a:r>
              <a:t>유정근 (Ryu Jean)</a:t>
            </a:r>
          </a:p>
          <a:p>
            <a:pPr>
              <a:lnSpc>
                <a:spcPct val="130000"/>
              </a:lnSpc>
              <a:defRPr sz="1200">
                <a:solidFill>
                  <a:srgbClr val="52463C"/>
                </a:solidFill>
              </a:defRPr>
            </a:pPr>
            <a:r>
              <a:t>• 웰니스 총괄 디렉터 / 전담 테라피스트</a:t>
            </a:r>
            <a:br/>
            <a:r>
              <a:t>• 사상체질 10대 시그니처 테라피 의전 설계</a:t>
            </a:r>
            <a:br/>
            <a:r>
              <a:t>• 글로벌 호텔/리조트 파트너십 및 브랜드 총괄</a:t>
            </a:r>
            <a:br/>
            <a:r>
              <a:t>• 1:1 VIP 프라이빗 컨설팅 및 트리트먼트 마스터</a:t>
            </a:r>
            <a:br/>
            <a:br/>
            <a:r>
              <a:t>📞 연락처: 010-4728-9917</a:t>
            </a:r>
            <a:br/>
            <a:r>
              <a:t>✉️ 이메일: ryujean77@gmail.com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37F48"/>
                </a:solidFill>
              </a:defRPr>
            </a:pPr>
            <a:r>
              <a:t>ACADEMIC &amp; MEDICAL DIRECTOR</a:t>
            </a:r>
          </a:p>
          <a:p>
            <a:pPr>
              <a:spcAft>
                <a:spcPts val="1000"/>
              </a:spcAft>
              <a:defRPr sz="2400" b="1">
                <a:solidFill>
                  <a:srgbClr val="241E19"/>
                </a:solidFill>
              </a:defRPr>
            </a:pPr>
            <a:r>
              <a:t>임동구 박사 (Dr. Dong-Ku Yim)</a:t>
            </a:r>
          </a:p>
          <a:p>
            <a:pPr>
              <a:lnSpc>
                <a:spcPct val="130000"/>
              </a:lnSpc>
              <a:defRPr sz="1200">
                <a:solidFill>
                  <a:srgbClr val="52463C"/>
                </a:solidFill>
              </a:defRPr>
            </a:pPr>
            <a:r>
              <a:t>• 식품공학박사 / Dr.Yim's 체질라이프스타일 연구소장</a:t>
            </a:r>
            <a:br/>
            <a:r>
              <a:t>• 사상체질 의학의 식품공학적 섭생 연구 권위자</a:t>
            </a:r>
            <a:br/>
            <a:r>
              <a:t>• 4대 체질 맞춤 미역국 &amp; 아로마 배합비 감수</a:t>
            </a:r>
            <a:br/>
            <a:r>
              <a:t>• 현대 생체 데이터 분석 및 체질 확정 알고리즘 구축</a:t>
            </a:r>
            <a:br/>
            <a:br/>
            <a:r>
              <a:t>📞 연락처: 010-2323-4662</a:t>
            </a:r>
            <a:br/>
            <a:r>
              <a:t>✉️ 이메일: ydoko@daum.net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300" b="1">
                <a:solidFill>
                  <a:srgbClr val="C9A876"/>
                </a:solidFill>
              </a:defRPr>
            </a:pPr>
            <a:r>
              <a:t>K-PREMIUM WELLNESS MASTER PLAN</a:t>
            </a:r>
          </a:p>
          <a:p>
            <a:pPr algn="ctr"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가장 한국적인 사상체질 의학이</a:t>
            </a:r>
            <a:br/>
            <a:r>
              <a:t>가장 세계적인 럭셔리 스파가 됩니다</a:t>
            </a:r>
          </a:p>
          <a:p>
            <a:pPr algn="ctr">
              <a:defRPr sz="1400">
                <a:solidFill>
                  <a:srgbClr val="C9A876"/>
                </a:solidFill>
              </a:defRPr>
            </a:pPr>
            <a:r>
              <a:t>공식 웹 포털 실시간 확인: https://ryujean77.github.io/ryujean-slides/sasang-spa/</a:t>
            </a:r>
            <a:br/>
            <a:r>
              <a:t>문의: 유정근 총괄 디렉터 (010-4728-9917 | ryujean77@gmail.com)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