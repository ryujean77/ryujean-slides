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911535" cy="5577840"/>
          </a:xfrm>
          <a:prstGeom prst="rect">
            <a:avLst/>
          </a:prstGeom>
          <a:noFill/>
          <a:ln w="1905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97280"/>
            <a:ext cx="9784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C29B62"/>
                </a:solidFill>
              </a:defRPr>
            </a:pPr>
            <a:r>
              <a:t>2026 / 27  K-WELLNESS RETREAT</a:t>
            </a:r>
          </a:p>
          <a:p>
            <a:pPr>
              <a:spcAft>
                <a:spcPts val="600"/>
              </a:spcAft>
              <a:defRPr sz="4000" b="1">
                <a:solidFill>
                  <a:srgbClr val="FFFFFF"/>
                </a:solidFill>
              </a:defRPr>
            </a:pPr>
            <a:r>
              <a:t>Sasang-Kuren</a:t>
            </a:r>
          </a:p>
          <a:p>
            <a:pPr>
              <a:spcAft>
                <a:spcPts val="2000"/>
              </a:spcAft>
              <a:defRPr sz="1800">
                <a:solidFill>
                  <a:srgbClr val="C29B62"/>
                </a:solidFill>
              </a:defRPr>
            </a:pPr>
            <a:r>
              <a:t>Medizin  ·  Regeneration  ·  Retreat</a:t>
            </a:r>
          </a:p>
          <a:p>
            <a:pPr>
              <a:lnSpc>
                <a:spcPct val="130000"/>
              </a:lnSpc>
              <a:spcAft>
                <a:spcPts val="2600"/>
              </a:spcAft>
              <a:defRPr sz="1300">
                <a:solidFill>
                  <a:srgbClr val="E1DACD"/>
                </a:solidFill>
              </a:defRPr>
            </a:pPr>
            <a:r>
              <a:t>한국 고유의 사상체질 의학이 완성한 정통 메디컬 쿠어(Kur) 프로그램</a:t>
            </a:r>
            <a:br/>
            <a:r>
              <a:t>현대인의 만성 질환과 불균형을 해결하는 1:1 맞춤 신체 리셋 솔루션</a:t>
            </a:r>
          </a:p>
          <a:p>
            <a:pPr>
              <a:defRPr sz="1050">
                <a:solidFill>
                  <a:srgbClr val="B4AA9B"/>
                </a:solidFill>
              </a:defRPr>
            </a:pPr>
            <a:r>
              <a:t>• 총괄 디렉터: 유정근 (웰니스 총괄 / 전담 테라피스트 | 010-4728-9917)</a:t>
            </a:r>
            <a:br/>
            <a:r>
              <a:t>• 학술/의학 총괄: 임동구 식품공학박사 (Dr.Yim's 체질라이프스타일 연구소장 | 010-2323-4662)</a:t>
            </a:r>
            <a:br/>
            <a:r>
              <a:t>• 온라인 웹 포털: https://ryujean77.github.io/ryujean-slides/sasang-spa/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4723E"/>
                </a:solidFill>
              </a:defRPr>
            </a:pPr>
            <a:r>
              <a:t>2026/27 SASANG-KUREN : MEDIZIN · REGENERATION · RETREAT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6201C"/>
                </a:solidFill>
              </a:defRPr>
            </a:pPr>
            <a:r>
              <a:t>Mein neues Ich : 사상체질 스파의 4대 품질 기준 (Qualitätsmerkmale)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286000" cy="22860"/>
          </a:xfrm>
          <a:prstGeom prst="rect">
            <a:avLst/>
          </a:prstGeom>
          <a:solidFill>
            <a:srgbClr val="C29B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51206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C362B"/>
                </a:solidFill>
              </a:defRPr>
            </a:pPr>
            <a:r>
              <a:t>01. Fachkundige Begleitung (전문가 1:1 동행)</a:t>
            </a:r>
          </a:p>
          <a:p>
            <a:pPr>
              <a:lnSpc>
                <a:spcPct val="130000"/>
              </a:lnSpc>
              <a:defRPr sz="1150">
                <a:solidFill>
                  <a:srgbClr val="5F5750"/>
                </a:solidFill>
              </a:defRPr>
            </a:pPr>
            <a:r>
              <a:t>임동구 식품공학박사의 사상체질 의학 이론과 유정근 총괄 디렉터의 VIP 전담 테라피스트 1:1 배정으로 치료 효과 극대화.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508760"/>
            <a:ext cx="51206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4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C362B"/>
                </a:solidFill>
              </a:defRPr>
            </a:pPr>
            <a:r>
              <a:t>02. Individuelle Betreuung (소수 정예 프라이빗)</a:t>
            </a:r>
          </a:p>
          <a:p>
            <a:pPr>
              <a:lnSpc>
                <a:spcPct val="130000"/>
              </a:lnSpc>
              <a:defRPr sz="1150">
                <a:solidFill>
                  <a:srgbClr val="5F5750"/>
                </a:solidFill>
              </a:defRPr>
            </a:pPr>
            <a:r>
              <a:t>대형 스파의 번잡함을 배제하고 프라이빗 스위트룸에서 고객의 장부 편차에 맞춘 100% 비언어(은반지/가운) 의전 제공.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51206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1480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C362B"/>
                </a:solidFill>
              </a:defRPr>
            </a:pPr>
            <a:r>
              <a:t>03. Bewegung &amp; Meditation (기체조 &amp; 침묵 명상)</a:t>
            </a:r>
          </a:p>
          <a:p>
            <a:pPr>
              <a:lnSpc>
                <a:spcPct val="130000"/>
              </a:lnSpc>
              <a:defRPr sz="1150">
                <a:solidFill>
                  <a:srgbClr val="5F5750"/>
                </a:solidFill>
              </a:defRPr>
            </a:pPr>
            <a:r>
              <a:t>서양식 격렬한 운동 대신 단전 호흡으로 탁기를 배출하는 태극선법 8초식과 사찰/선도의 30분 고요 침묵 명상 융합.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931920"/>
            <a:ext cx="51206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11480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C362B"/>
                </a:solidFill>
              </a:defRPr>
            </a:pPr>
            <a:r>
              <a:t>04. Bio-Sasang Cuisine (유기농 체질 맞춤 섭생)</a:t>
            </a:r>
          </a:p>
          <a:p>
            <a:pPr>
              <a:lnSpc>
                <a:spcPct val="130000"/>
              </a:lnSpc>
              <a:defRPr sz="1150">
                <a:solidFill>
                  <a:srgbClr val="5F5750"/>
                </a:solidFill>
              </a:defRPr>
            </a:pPr>
            <a:r>
              <a:t>18:00~06:00 12시간 단식(자가포식)과 기상 직후 4대 체질 맞춤 영양 미역국(소고기/돼지고기/닭가슴살/전복) 정식 공급.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4723E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6201C"/>
                </a:solidFill>
              </a:defRPr>
            </a:pPr>
            <a:r>
              <a:t>Die Entstehung von Ungleichgewicht : 현대인이 겪는 3대 고질적 문제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286000" cy="22860"/>
          </a:xfrm>
          <a:prstGeom prst="rect">
            <a:avLst/>
          </a:prstGeom>
          <a:solidFill>
            <a:srgbClr val="C29B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3383280" cy="4846320"/>
          </a:xfrm>
          <a:prstGeom prst="rect">
            <a:avLst/>
          </a:prstGeom>
          <a:solidFill>
            <a:srgbClr val="FDF2F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B91C1C"/>
                </a:solidFill>
              </a:defRPr>
            </a:pPr>
            <a:r>
              <a:t>PROBLEM 01</a:t>
            </a:r>
          </a:p>
          <a:p>
            <a:pPr>
              <a:spcAft>
                <a:spcPts val="1000"/>
              </a:spcAft>
              <a:defRPr sz="1400" b="1">
                <a:solidFill>
                  <a:srgbClr val="26201C"/>
                </a:solidFill>
              </a:defRPr>
            </a:pPr>
            <a:r>
              <a:t>획일적 처방의 부작용 ('One-Size-Fits-All')</a:t>
            </a:r>
          </a:p>
          <a:p>
            <a:pPr>
              <a:lnSpc>
                <a:spcPct val="130000"/>
              </a:lnSpc>
              <a:defRPr sz="1050">
                <a:solidFill>
                  <a:srgbClr val="5F5750"/>
                </a:solidFill>
              </a:defRPr>
            </a:pPr>
            <a:r>
              <a:t>기존 스파는 '만인에게 좋은 것'이라는 전제로 라벤더/페퍼민트/온열 사우나를 획일 적용합니다.</a:t>
            </a:r>
            <a:br/>
            <a:br/>
            <a:r>
              <a:t>⚠️ 위험성: 열이 많은 사람에게 고온 사우나나 진저 오일을 쓰면 두통·상열감·불면이 악화되고, 몸이 찬 사람에게 찬 탄산스파나 페퍼민트를 쓰면 극심한 냉증과 복통을 유발합니다.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508760"/>
            <a:ext cx="3383280" cy="4846320"/>
          </a:xfrm>
          <a:prstGeom prst="rect">
            <a:avLst/>
          </a:prstGeom>
          <a:solidFill>
            <a:srgbClr val="FDF2F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9164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B91C1C"/>
                </a:solidFill>
              </a:defRPr>
            </a:pPr>
            <a:r>
              <a:t>PROBLEM 02</a:t>
            </a:r>
          </a:p>
          <a:p>
            <a:pPr>
              <a:spcAft>
                <a:spcPts val="1000"/>
              </a:spcAft>
              <a:defRPr sz="1400" b="1">
                <a:solidFill>
                  <a:srgbClr val="26201C"/>
                </a:solidFill>
              </a:defRPr>
            </a:pPr>
            <a:r>
              <a:t>1회성 마사지의 한계 (Temporary Relief)</a:t>
            </a:r>
          </a:p>
          <a:p>
            <a:pPr>
              <a:lnSpc>
                <a:spcPct val="130000"/>
              </a:lnSpc>
              <a:defRPr sz="1050">
                <a:solidFill>
                  <a:srgbClr val="5F5750"/>
                </a:solidFill>
              </a:defRPr>
            </a:pPr>
            <a:r>
              <a:t>단순 오일 마사지는 표층 근육만 일시적으로 만져줄 뿐, 체내 장부(간·폐·비·신)의 대사 불균형과 심부 노폐물 정체를 해결하지 못합니다.</a:t>
            </a:r>
            <a:br/>
            <a:br/>
            <a:r>
              <a:t>⚠️ 한계: 스파 당일 밤만 잠시 편안할 뿐, 다음 날 아침이면 피로와 뻐근함이 100% 원상복귀되는 악순환이 반복됩니다.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1508760"/>
            <a:ext cx="3383280" cy="4846320"/>
          </a:xfrm>
          <a:prstGeom prst="rect">
            <a:avLst/>
          </a:prstGeom>
          <a:solidFill>
            <a:srgbClr val="FDF2F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9164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B91C1C"/>
                </a:solidFill>
              </a:defRPr>
            </a:pPr>
            <a:r>
              <a:t>PROBLEM 03</a:t>
            </a:r>
          </a:p>
          <a:p>
            <a:pPr>
              <a:spcAft>
                <a:spcPts val="1000"/>
              </a:spcAft>
              <a:defRPr sz="1400" b="1">
                <a:solidFill>
                  <a:srgbClr val="26201C"/>
                </a:solidFill>
              </a:defRPr>
            </a:pPr>
            <a:r>
              <a:t>무분별한 디톡스의 역효과 (Blind Detox)</a:t>
            </a:r>
          </a:p>
          <a:p>
            <a:pPr>
              <a:lnSpc>
                <a:spcPct val="130000"/>
              </a:lnSpc>
              <a:defRPr sz="1050">
                <a:solidFill>
                  <a:srgbClr val="5F5750"/>
                </a:solidFill>
              </a:defRPr>
            </a:pPr>
            <a:r>
              <a:t>체질을 무시한 유행성 디톡스 주스(케일/오이 등 찬 성질)나 무작정 굶는 단식은 소화기 장부를 심각하게 훼손합니다.</a:t>
            </a:r>
            <a:br/>
            <a:br/>
            <a:r>
              <a:t>⚠️ 피해: 비위가 찬 소음인에게 찬 녹즙은 위장 마비를 일으키고, 고단백 육류 과다는 태양인의 간 해독력을 파괴합니다.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4723E"/>
                </a:solidFill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6201C"/>
                </a:solidFill>
              </a:defRPr>
            </a:pPr>
            <a:r>
              <a:t>Ganzheitlich heilen : 사상체질 스파가 제시하는 3대 근본 해결책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286000" cy="22860"/>
          </a:xfrm>
          <a:prstGeom prst="rect">
            <a:avLst/>
          </a:prstGeom>
          <a:solidFill>
            <a:srgbClr val="C29B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3383280" cy="4846320"/>
          </a:xfrm>
          <a:prstGeom prst="rect">
            <a:avLst/>
          </a:prstGeom>
          <a:solidFill>
            <a:srgbClr val="F0F9F4"/>
          </a:solidFill>
          <a:ln w="12700">
            <a:solidFill>
              <a:srgbClr val="1C3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C362B"/>
                </a:solidFill>
              </a:defRPr>
            </a:pPr>
            <a:r>
              <a:t>SOLUTION 01</a:t>
            </a:r>
          </a:p>
          <a:p>
            <a:pPr>
              <a:spcAft>
                <a:spcPts val="1000"/>
              </a:spcAft>
              <a:defRPr sz="1400" b="1">
                <a:solidFill>
                  <a:srgbClr val="26201C"/>
                </a:solidFill>
              </a:defRPr>
            </a:pPr>
            <a:r>
              <a:t>장부대소 기반 0% 부작용 초개인화</a:t>
            </a:r>
          </a:p>
          <a:p>
            <a:pPr>
              <a:lnSpc>
                <a:spcPct val="130000"/>
              </a:lnSpc>
              <a:defRPr sz="1050">
                <a:solidFill>
                  <a:srgbClr val="5F5750"/>
                </a:solidFill>
              </a:defRPr>
            </a:pPr>
            <a:r>
              <a:t>1894년 이제마의 해부생리학과 생체 데이터를 결합하여 간·폐·비·신의 장부 용량을 정밀 진단합니다.</a:t>
            </a:r>
            <a:br/>
            <a:br/>
            <a:r>
              <a:t>✨ 해결: 오직 내 몸의 장부 편차에만 유효한 최고급 100% 순수 에센셜 오일과 맞춤 수온(41℃ 온열탕 vs 38.5℃ 쿨링탕)을 처방하여 부작용을 원천 차단합니다.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508760"/>
            <a:ext cx="3383280" cy="4846320"/>
          </a:xfrm>
          <a:prstGeom prst="rect">
            <a:avLst/>
          </a:prstGeom>
          <a:solidFill>
            <a:srgbClr val="F0F9F4"/>
          </a:solidFill>
          <a:ln w="12700">
            <a:solidFill>
              <a:srgbClr val="1C3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9164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C362B"/>
                </a:solidFill>
              </a:defRPr>
            </a:pPr>
            <a:r>
              <a:t>SOLUTION 02</a:t>
            </a:r>
          </a:p>
          <a:p>
            <a:pPr>
              <a:spcAft>
                <a:spcPts val="1000"/>
              </a:spcAft>
              <a:defRPr sz="1400" b="1">
                <a:solidFill>
                  <a:srgbClr val="26201C"/>
                </a:solidFill>
              </a:defRPr>
            </a:pPr>
            <a:r>
              <a:t>3중 융합 신체 리셋 (스파+단식+섭생)</a:t>
            </a:r>
          </a:p>
          <a:p>
            <a:pPr>
              <a:lnSpc>
                <a:spcPct val="130000"/>
              </a:lnSpc>
              <a:defRPr sz="1050">
                <a:solidFill>
                  <a:srgbClr val="5F5750"/>
                </a:solidFill>
              </a:defRPr>
            </a:pPr>
            <a:r>
              <a:t>80분 이원화 바디 테라피(수기 지압+순수 오일 림프 드레나쥐)와 저녁 18:00~익일 06:00 12시간 단식(자가포식)을 결합합니다.</a:t>
            </a:r>
            <a:br/>
            <a:br/>
            <a:r>
              <a:t>✨ 해결: 단식으로 세포 내 찌꺼기를 청소하고, 기상 직후 4대 체질 맞춤 영양 미역국 조식으로 장부를 완벽히 영양 재건합니다.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1508760"/>
            <a:ext cx="3383280" cy="4846320"/>
          </a:xfrm>
          <a:prstGeom prst="rect">
            <a:avLst/>
          </a:prstGeom>
          <a:solidFill>
            <a:srgbClr val="F0F9F4"/>
          </a:solidFill>
          <a:ln w="12700">
            <a:solidFill>
              <a:srgbClr val="1C3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9164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C362B"/>
                </a:solidFill>
              </a:defRPr>
            </a:pPr>
            <a:r>
              <a:t>SOLUTION 03</a:t>
            </a:r>
          </a:p>
          <a:p>
            <a:pPr>
              <a:spcAft>
                <a:spcPts val="1000"/>
              </a:spcAft>
              <a:defRPr sz="1400" b="1">
                <a:solidFill>
                  <a:srgbClr val="26201C"/>
                </a:solidFill>
              </a:defRPr>
            </a:pPr>
            <a:r>
              <a:t>평생 지속 가능한 바이오 LTV 라이프스타일</a:t>
            </a:r>
          </a:p>
          <a:p>
            <a:pPr>
              <a:lnSpc>
                <a:spcPct val="130000"/>
              </a:lnSpc>
              <a:defRPr sz="1050">
                <a:solidFill>
                  <a:srgbClr val="5F5750"/>
                </a:solidFill>
              </a:defRPr>
            </a:pPr>
            <a:r>
              <a:t>1회성 방문을 넘어 DTC 유전자 분석 및 장내 미생물(마이크로바이옴) 키트를 연동하여 1:1 모바일 바이오 리포트를 발행합니다.</a:t>
            </a:r>
            <a:br/>
            <a:br/>
            <a:r>
              <a:t>✨ 해결: 일상 복귀 후에도 모바일 웹 처방전과 월간 맞춤 오일 정기구독(LRP)을 통해 체질 섭생을 평생 습관화합니다.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4723E"/>
                </a:solidFill>
              </a:defRPr>
            </a:pPr>
            <a:r>
              <a:t>PROGRAMS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6201C"/>
                </a:solidFill>
              </a:defRPr>
            </a:pPr>
            <a:r>
              <a:t>Sasang-Kuren im Überblick : 6대 메디컬 쿠어 프로그램 총람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286000" cy="22860"/>
          </a:xfrm>
          <a:prstGeom prst="rect">
            <a:avLst/>
          </a:prstGeom>
          <a:solidFill>
            <a:srgbClr val="C29B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51206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18488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4723E"/>
                </a:solidFill>
              </a:defRPr>
            </a:pPr>
            <a:r>
              <a:t>01. Sasang-ResetMed (15/16박)</a:t>
            </a:r>
          </a:p>
          <a:p>
            <a:pPr>
              <a:spcAft>
                <a:spcPts val="200"/>
              </a:spcAft>
              <a:defRPr sz="1100" b="1">
                <a:solidFill>
                  <a:srgbClr val="26201C"/>
                </a:solidFill>
              </a:defRPr>
            </a:pPr>
            <a:r>
              <a:t>클래식 사상체질 전신 재건 쿠어</a:t>
            </a:r>
          </a:p>
          <a:p>
            <a:pPr>
              <a:defRPr sz="950">
                <a:solidFill>
                  <a:srgbClr val="5F5750"/>
                </a:solidFill>
              </a:defRPr>
            </a:pPr>
            <a:r>
              <a:t>DTC 유전자 검사 + 10대 테마 매일 3단계 순환 + 1:1 라이프스타일 매뉴얼북 발행 (면역 나이 5년 리셋)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508760"/>
            <a:ext cx="51206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18488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4723E"/>
                </a:solidFill>
              </a:defRPr>
            </a:pPr>
            <a:r>
              <a:t>02. SvasthaMed (5/6박)</a:t>
            </a:r>
          </a:p>
          <a:p>
            <a:pPr>
              <a:spcAft>
                <a:spcPts val="200"/>
              </a:spcAft>
              <a:defRPr sz="1100" b="1">
                <a:solidFill>
                  <a:srgbClr val="26201C"/>
                </a:solidFill>
              </a:defRPr>
            </a:pPr>
            <a:r>
              <a:t>1:1 집중 디톡스 &amp; 림프 배농 쿠어</a:t>
            </a:r>
          </a:p>
          <a:p>
            <a:pPr>
              <a:defRPr sz="950">
                <a:solidFill>
                  <a:srgbClr val="5F5750"/>
                </a:solidFill>
              </a:defRPr>
            </a:pPr>
            <a:r>
              <a:t>1~3일 림프 배농 &amp; 온열 챔버(체온 1℃ 상승) ➔ 4~6일 마이크로바이옴 검사 &amp; 태극선법 (부종 85% 개선)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08960"/>
            <a:ext cx="51206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18688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4723E"/>
                </a:solidFill>
              </a:defRPr>
            </a:pPr>
            <a:r>
              <a:t>03. BalaMental (5/6박)</a:t>
            </a:r>
          </a:p>
          <a:p>
            <a:pPr>
              <a:spcAft>
                <a:spcPts val="200"/>
              </a:spcAft>
              <a:defRPr sz="1100" b="1">
                <a:solidFill>
                  <a:srgbClr val="26201C"/>
                </a:solidFill>
              </a:defRPr>
            </a:pPr>
            <a:r>
              <a:t>스트레스 해소 &amp; 자율신경 회복 쿠어</a:t>
            </a:r>
          </a:p>
          <a:p>
            <a:pPr>
              <a:defRPr sz="950">
                <a:solidFill>
                  <a:srgbClr val="5F5750"/>
                </a:solidFill>
              </a:defRPr>
            </a:pPr>
            <a:r>
              <a:t>High-Beta파 뇌 피로 해소, 30분 전통 다기 침묵 명상, 프랑킨센스 뇌파 안정화 (뇌 피로도 70% 감소)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108960"/>
            <a:ext cx="51206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3218688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4723E"/>
                </a:solidFill>
              </a:defRPr>
            </a:pPr>
            <a:r>
              <a:t>04. SasangDetox (5/6박)</a:t>
            </a:r>
          </a:p>
          <a:p>
            <a:pPr>
              <a:spcAft>
                <a:spcPts val="200"/>
              </a:spcAft>
              <a:defRPr sz="1100" b="1">
                <a:solidFill>
                  <a:srgbClr val="26201C"/>
                </a:solidFill>
              </a:defRPr>
            </a:pPr>
            <a:r>
              <a:t>12시간 단식 &amp; 세포 자가포식 쿠어</a:t>
            </a:r>
          </a:p>
          <a:p>
            <a:pPr>
              <a:defRPr sz="950">
                <a:solidFill>
                  <a:srgbClr val="5F5750"/>
                </a:solidFill>
              </a:defRPr>
            </a:pPr>
            <a:r>
              <a:t>18:00~06:00 12h 단식으로 손상 단백질 분해 청소 + 기상 직후 4대 맞춤 영양 미역국 공급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709160"/>
            <a:ext cx="51206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18888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4723E"/>
                </a:solidFill>
              </a:defRPr>
            </a:pPr>
            <a:r>
              <a:t>05. PhysioSasang (5/6박)</a:t>
            </a:r>
          </a:p>
          <a:p>
            <a:pPr>
              <a:spcAft>
                <a:spcPts val="200"/>
              </a:spcAft>
              <a:defRPr sz="1100" b="1">
                <a:solidFill>
                  <a:srgbClr val="26201C"/>
                </a:solidFill>
              </a:defRPr>
            </a:pPr>
            <a:r>
              <a:t>근골격계 &amp; 척추 온열 이원화 쿠어</a:t>
            </a:r>
          </a:p>
          <a:p>
            <a:pPr>
              <a:defRPr sz="950">
                <a:solidFill>
                  <a:srgbClr val="5F5750"/>
                </a:solidFill>
              </a:defRPr>
            </a:pPr>
            <a:r>
              <a:t>1단계 30분 한의 수기 지압으로 기혈 순환로 개방 + 2단계 50분 최고급 순수 에센셜 오일 림프 드레나쥐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709160"/>
            <a:ext cx="51206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818888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4723E"/>
                </a:solidFill>
              </a:defRPr>
            </a:pPr>
            <a:r>
              <a:t>06. SasangWellMed (2/3박)</a:t>
            </a:r>
          </a:p>
          <a:p>
            <a:pPr>
              <a:spcAft>
                <a:spcPts val="200"/>
              </a:spcAft>
              <a:defRPr sz="1100" b="1">
                <a:solidFill>
                  <a:srgbClr val="26201C"/>
                </a:solidFill>
              </a:defRPr>
            </a:pPr>
            <a:r>
              <a:t>주말 힐링 &amp; 긴급 생체 리프레시</a:t>
            </a:r>
          </a:p>
          <a:p>
            <a:pPr>
              <a:defRPr sz="950">
                <a:solidFill>
                  <a:srgbClr val="5F5750"/>
                </a:solidFill>
              </a:defRPr>
            </a:pPr>
            <a:r>
              <a:t>단기 입소 VIP를 위한 문진 ➔ 족욕 ➔ 80분 바디 ➔ 12h 단식 ➔ 산화질소 나노 미스트 코어 리프레시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4723E"/>
                </a:solidFill>
              </a:defRPr>
            </a:pPr>
            <a:r>
              <a:t>FOUR CONSTITUTIONS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6201C"/>
                </a:solidFill>
              </a:defRPr>
            </a:pPr>
            <a:r>
              <a:t>Die Vier Konstitutionstypen : 4대 사상체질 심층 가이드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286000" cy="22860"/>
          </a:xfrm>
          <a:prstGeom prst="rect">
            <a:avLst/>
          </a:prstGeom>
          <a:solidFill>
            <a:srgbClr val="C29B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256032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947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94723E"/>
                </a:solidFill>
              </a:defRPr>
            </a:pPr>
            <a:r>
              <a:t>Tae-eum (태음인)</a:t>
            </a:r>
          </a:p>
          <a:p>
            <a:pPr>
              <a:spcAft>
                <a:spcPts val="800"/>
              </a:spcAft>
              <a:defRPr sz="1000">
                <a:solidFill>
                  <a:srgbClr val="94723E"/>
                </a:solidFill>
              </a:defRPr>
            </a:pPr>
            <a:r>
              <a:t>간대폐소 (肝大肺小)</a:t>
            </a:r>
          </a:p>
          <a:p>
            <a:pPr>
              <a:lnSpc>
                <a:spcPct val="125000"/>
              </a:lnSpc>
              <a:defRPr sz="1000">
                <a:solidFill>
                  <a:srgbClr val="26201C"/>
                </a:solidFill>
              </a:defRPr>
            </a:pPr>
            <a:r>
              <a:t>• 장부 특성: 간 기능 강함, 폐/기관지 허약</a:t>
            </a:r>
            <a:br/>
            <a:r>
              <a:t>• 취약 증상: 림프 정체, 비만, 기관지 건조</a:t>
            </a:r>
            <a:br/>
            <a:r>
              <a:t>• 전용 오일: 유칼립투스, 샌달우드</a:t>
            </a:r>
            <a:br/>
            <a:r>
              <a:t>• 쿠어 식단: 소고기 양지 들깨 미역국 + 율무밥</a:t>
            </a:r>
            <a:br/>
            <a:r>
              <a:t>• 비언어 의전: 황색 가운 / 우측 4지 은반지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1508760"/>
            <a:ext cx="256032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C3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64592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C362B"/>
                </a:solidFill>
              </a:defRPr>
            </a:pPr>
            <a:r>
              <a:t>So-yang (소양인)</a:t>
            </a:r>
          </a:p>
          <a:p>
            <a:pPr>
              <a:spcAft>
                <a:spcPts val="800"/>
              </a:spcAft>
              <a:defRPr sz="1000">
                <a:solidFill>
                  <a:srgbClr val="94723E"/>
                </a:solidFill>
              </a:defRPr>
            </a:pPr>
            <a:r>
              <a:t>비대신소 (脾大腎小)</a:t>
            </a:r>
          </a:p>
          <a:p>
            <a:pPr>
              <a:lnSpc>
                <a:spcPct val="125000"/>
              </a:lnSpc>
              <a:defRPr sz="1000">
                <a:solidFill>
                  <a:srgbClr val="26201C"/>
                </a:solidFill>
              </a:defRPr>
            </a:pPr>
            <a:r>
              <a:t>• 장부 특성: 소화기 열 많음, 신장 음기 허약</a:t>
            </a:r>
            <a:br/>
            <a:r>
              <a:t>• 취약 증상: 상열감, 편두통, 가슴 답답, 불면</a:t>
            </a:r>
            <a:br/>
            <a:r>
              <a:t>• 전용 오일: 페퍼민트, 라벤더</a:t>
            </a:r>
            <a:br/>
            <a:r>
              <a:t>• 쿠어 식단: 돼지고기 수육 / 조개 미역국 + 보리밥</a:t>
            </a:r>
            <a:br/>
            <a:r>
              <a:t>• 비언어 의전: 청색 가운 / 좌측 2지 은반지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508760"/>
            <a:ext cx="256032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947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4592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94723E"/>
                </a:solidFill>
              </a:defRPr>
            </a:pPr>
            <a:r>
              <a:t>So-eum (소음인)</a:t>
            </a:r>
          </a:p>
          <a:p>
            <a:pPr>
              <a:spcAft>
                <a:spcPts val="800"/>
              </a:spcAft>
              <a:defRPr sz="1000">
                <a:solidFill>
                  <a:srgbClr val="94723E"/>
                </a:solidFill>
              </a:defRPr>
            </a:pPr>
            <a:r>
              <a:t>신대비소 (腎大脾小)</a:t>
            </a:r>
          </a:p>
          <a:p>
            <a:pPr>
              <a:lnSpc>
                <a:spcPct val="125000"/>
              </a:lnSpc>
              <a:defRPr sz="1000">
                <a:solidFill>
                  <a:srgbClr val="26201C"/>
                </a:solidFill>
              </a:defRPr>
            </a:pPr>
            <a:r>
              <a:t>• 장부 특성: 신장 기능 튼튼, 비위 차고 약함</a:t>
            </a:r>
            <a:br/>
            <a:r>
              <a:t>• 취약 증상: 수족냉증, 만성 소화불량, 피로</a:t>
            </a:r>
            <a:br/>
            <a:r>
              <a:t>• 전용 오일: 진저, 온가드, 시나몬</a:t>
            </a:r>
            <a:br/>
            <a:r>
              <a:t>• 쿠어 식단: 닭가슴살 황기 보양 미역국 + 찹쌀밥</a:t>
            </a:r>
            <a:br/>
            <a:r>
              <a:t>• 비언어 의전: 백색 가운 / 우측 3지 은반지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1508760"/>
            <a:ext cx="256032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C3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64592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C362B"/>
                </a:solidFill>
              </a:defRPr>
            </a:pPr>
            <a:r>
              <a:t>Tae-yang (태양인)</a:t>
            </a:r>
          </a:p>
          <a:p>
            <a:pPr>
              <a:spcAft>
                <a:spcPts val="800"/>
              </a:spcAft>
              <a:defRPr sz="1000">
                <a:solidFill>
                  <a:srgbClr val="94723E"/>
                </a:solidFill>
              </a:defRPr>
            </a:pPr>
            <a:r>
              <a:t>폐대간소 (肺大肝小)</a:t>
            </a:r>
          </a:p>
          <a:p>
            <a:pPr>
              <a:lnSpc>
                <a:spcPct val="125000"/>
              </a:lnSpc>
              <a:defRPr sz="1000">
                <a:solidFill>
                  <a:srgbClr val="26201C"/>
                </a:solidFill>
              </a:defRPr>
            </a:pPr>
            <a:r>
              <a:t>• 장부 특성: 폐 기능 강함, 간 해독/하체 허약</a:t>
            </a:r>
            <a:br/>
            <a:r>
              <a:t>• 취약 증상: 상기증, 목덜미 강직, 하지 무력</a:t>
            </a:r>
            <a:br/>
            <a:r>
              <a:t>• 전용 오일: 베티버, 프랑킨센스</a:t>
            </a:r>
            <a:br/>
            <a:r>
              <a:t>• 쿠어 식단: 완도산 전복 홍합 해물 미역국 + 메밀죽</a:t>
            </a:r>
            <a:br/>
            <a:r>
              <a:t>• 비언어 의전: 적색 가운 / 좌측 4지 은반지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4723E"/>
                </a:solidFill>
              </a:defRPr>
            </a:pPr>
            <a:r>
              <a:t>SIGNATURE TREATMENTS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6201C"/>
                </a:solidFill>
              </a:defRPr>
            </a:pPr>
            <a:r>
              <a:t>Die 10 Kur-Therapien : 사상체질 10대 시그니처 테라피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286000" cy="22860"/>
          </a:xfrm>
          <a:prstGeom prst="rect">
            <a:avLst/>
          </a:prstGeom>
          <a:solidFill>
            <a:srgbClr val="C29B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2057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618488"/>
            <a:ext cx="1828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94723E"/>
                </a:solidFill>
              </a:defRPr>
            </a:pPr>
            <a:r>
              <a:t>THERAPIE 01</a:t>
            </a:r>
          </a:p>
          <a:p>
            <a:pPr>
              <a:spcAft>
                <a:spcPts val="500"/>
              </a:spcAft>
              <a:defRPr sz="1150" b="1">
                <a:solidFill>
                  <a:srgbClr val="26201C"/>
                </a:solidFill>
              </a:defRPr>
            </a:pPr>
            <a:r>
              <a:t>웰컴 오리엔테이션</a:t>
            </a:r>
          </a:p>
          <a:p>
            <a:pPr>
              <a:lnSpc>
                <a:spcPct val="120000"/>
              </a:lnSpc>
              <a:defRPr sz="950">
                <a:solidFill>
                  <a:srgbClr val="5F5750"/>
                </a:solidFill>
              </a:defRPr>
            </a:pPr>
            <a:r>
              <a:t>다실 1:1 상담 및 체질별 맞춤 웰컴 티 음용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7791" y="1508760"/>
            <a:ext cx="2057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19" y="1618488"/>
            <a:ext cx="1828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94723E"/>
                </a:solidFill>
              </a:defRPr>
            </a:pPr>
            <a:r>
              <a:t>THERAPIE 02</a:t>
            </a:r>
          </a:p>
          <a:p>
            <a:pPr>
              <a:spcAft>
                <a:spcPts val="500"/>
              </a:spcAft>
              <a:defRPr sz="1150" b="1">
                <a:solidFill>
                  <a:srgbClr val="26201C"/>
                </a:solidFill>
              </a:defRPr>
            </a:pPr>
            <a:r>
              <a:t>20분 맞춤 약재 족욕</a:t>
            </a:r>
          </a:p>
          <a:p>
            <a:pPr>
              <a:lnSpc>
                <a:spcPct val="120000"/>
              </a:lnSpc>
              <a:defRPr sz="950">
                <a:solidFill>
                  <a:srgbClr val="5F5750"/>
                </a:solidFill>
              </a:defRPr>
            </a:pPr>
            <a:r>
              <a:t>두한족열 순환. 41℃ 온열탕 vs 38.5℃ 쿨링탕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4064" y="1508760"/>
            <a:ext cx="2057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3792" y="1618488"/>
            <a:ext cx="1828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94723E"/>
                </a:solidFill>
              </a:defRPr>
            </a:pPr>
            <a:r>
              <a:t>THERAPIE 03</a:t>
            </a:r>
          </a:p>
          <a:p>
            <a:pPr>
              <a:spcAft>
                <a:spcPts val="500"/>
              </a:spcAft>
              <a:defRPr sz="1150" b="1">
                <a:solidFill>
                  <a:srgbClr val="26201C"/>
                </a:solidFill>
              </a:defRPr>
            </a:pPr>
            <a:r>
              <a:t>은반지 비언어 의전</a:t>
            </a:r>
          </a:p>
          <a:p>
            <a:pPr>
              <a:lnSpc>
                <a:spcPct val="120000"/>
              </a:lnSpc>
              <a:defRPr sz="950">
                <a:solidFill>
                  <a:srgbClr val="5F5750"/>
                </a:solidFill>
              </a:defRPr>
            </a:pPr>
            <a:r>
              <a:t>경락별 은반지 착용 및 4대 컬러 가운 비언어 의전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60336" y="1508760"/>
            <a:ext cx="2057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1618488"/>
            <a:ext cx="1828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94723E"/>
                </a:solidFill>
              </a:defRPr>
            </a:pPr>
            <a:r>
              <a:t>THERAPIE 04</a:t>
            </a:r>
          </a:p>
          <a:p>
            <a:pPr>
              <a:spcAft>
                <a:spcPts val="500"/>
              </a:spcAft>
              <a:defRPr sz="1150" b="1">
                <a:solidFill>
                  <a:srgbClr val="26201C"/>
                </a:solidFill>
              </a:defRPr>
            </a:pPr>
            <a:r>
              <a:t>12h 단식 &amp; 미역국</a:t>
            </a:r>
          </a:p>
          <a:p>
            <a:pPr>
              <a:lnSpc>
                <a:spcPct val="120000"/>
              </a:lnSpc>
              <a:defRPr sz="950">
                <a:solidFill>
                  <a:srgbClr val="5F5750"/>
                </a:solidFill>
              </a:defRPr>
            </a:pPr>
            <a:r>
              <a:t>18:00~06:00 자가포식 해독 &amp; 4대 맞춤 미역국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36608" y="1508760"/>
            <a:ext cx="2057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46336" y="1618488"/>
            <a:ext cx="1828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94723E"/>
                </a:solidFill>
              </a:defRPr>
            </a:pPr>
            <a:r>
              <a:t>THERAPIE 05</a:t>
            </a:r>
          </a:p>
          <a:p>
            <a:pPr>
              <a:spcAft>
                <a:spcPts val="500"/>
              </a:spcAft>
              <a:defRPr sz="1150" b="1">
                <a:solidFill>
                  <a:srgbClr val="26201C"/>
                </a:solidFill>
              </a:defRPr>
            </a:pPr>
            <a:r>
              <a:t>80분 이원화 바디</a:t>
            </a:r>
          </a:p>
          <a:p>
            <a:pPr>
              <a:lnSpc>
                <a:spcPct val="120000"/>
              </a:lnSpc>
              <a:defRPr sz="950">
                <a:solidFill>
                  <a:srgbClr val="5F5750"/>
                </a:solidFill>
              </a:defRPr>
            </a:pPr>
            <a:r>
              <a:t>한의 수기 지압(30분) + 순수 에센셜 오일(50분)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931920"/>
            <a:ext cx="2057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041648"/>
            <a:ext cx="1828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94723E"/>
                </a:solidFill>
              </a:defRPr>
            </a:pPr>
            <a:r>
              <a:t>THERAPIE 06</a:t>
            </a:r>
          </a:p>
          <a:p>
            <a:pPr>
              <a:spcAft>
                <a:spcPts val="500"/>
              </a:spcAft>
              <a:defRPr sz="1150" b="1">
                <a:solidFill>
                  <a:srgbClr val="26201C"/>
                </a:solidFill>
              </a:defRPr>
            </a:pPr>
            <a:r>
              <a:t>티 &amp; 30분 침묵 명상</a:t>
            </a:r>
          </a:p>
          <a:p>
            <a:pPr>
              <a:lnSpc>
                <a:spcPct val="120000"/>
              </a:lnSpc>
              <a:defRPr sz="950">
                <a:solidFill>
                  <a:srgbClr val="5F5750"/>
                </a:solidFill>
              </a:defRPr>
            </a:pPr>
            <a:r>
              <a:t>장인 도자기 다기 시연 &amp; 무언 침묵 명상(부교감 40%)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07791" y="3931920"/>
            <a:ext cx="2057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17519" y="4041648"/>
            <a:ext cx="1828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94723E"/>
                </a:solidFill>
              </a:defRPr>
            </a:pPr>
            <a:r>
              <a:t>THERAPIE 07</a:t>
            </a:r>
          </a:p>
          <a:p>
            <a:pPr>
              <a:spcAft>
                <a:spcPts val="500"/>
              </a:spcAft>
              <a:defRPr sz="1150" b="1">
                <a:solidFill>
                  <a:srgbClr val="26201C"/>
                </a:solidFill>
              </a:defRPr>
            </a:pPr>
            <a:r>
              <a:t>수(水) 산화질소 테라피</a:t>
            </a:r>
          </a:p>
          <a:p>
            <a:pPr>
              <a:lnSpc>
                <a:spcPct val="120000"/>
              </a:lnSpc>
              <a:defRPr sz="950">
                <a:solidFill>
                  <a:srgbClr val="5F5750"/>
                </a:solidFill>
              </a:defRPr>
            </a:pPr>
            <a:r>
              <a:t>NO 수 1.5L 음용 및 15분 전신 나노 미스트 챔버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064" y="3931920"/>
            <a:ext cx="2057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93792" y="4041648"/>
            <a:ext cx="1828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94723E"/>
                </a:solidFill>
              </a:defRPr>
            </a:pPr>
            <a:r>
              <a:t>THERAPIE 08</a:t>
            </a:r>
          </a:p>
          <a:p>
            <a:pPr>
              <a:spcAft>
                <a:spcPts val="500"/>
              </a:spcAft>
              <a:defRPr sz="1150" b="1">
                <a:solidFill>
                  <a:srgbClr val="26201C"/>
                </a:solidFill>
              </a:defRPr>
            </a:pPr>
            <a:r>
              <a:t>온열 테라피 (체온 1℃↑)</a:t>
            </a:r>
          </a:p>
          <a:p>
            <a:pPr>
              <a:lnSpc>
                <a:spcPct val="120000"/>
              </a:lnSpc>
              <a:defRPr sz="950">
                <a:solidFill>
                  <a:srgbClr val="5F5750"/>
                </a:solidFill>
              </a:defRPr>
            </a:pPr>
            <a:r>
              <a:t>42~45℃ 1시간 원적외선 챔버 (면역 NK세포 5배)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0336" y="3931920"/>
            <a:ext cx="2057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0064" y="4041648"/>
            <a:ext cx="1828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94723E"/>
                </a:solidFill>
              </a:defRPr>
            </a:pPr>
            <a:r>
              <a:t>THERAPIE 09</a:t>
            </a:r>
          </a:p>
          <a:p>
            <a:pPr>
              <a:spcAft>
                <a:spcPts val="500"/>
              </a:spcAft>
              <a:defRPr sz="1150" b="1">
                <a:solidFill>
                  <a:srgbClr val="26201C"/>
                </a:solidFill>
              </a:defRPr>
            </a:pPr>
            <a:r>
              <a:t>전통 기체조: 태극선법</a:t>
            </a:r>
          </a:p>
          <a:p>
            <a:pPr>
              <a:lnSpc>
                <a:spcPct val="120000"/>
              </a:lnSpc>
              <a:defRPr sz="950">
                <a:solidFill>
                  <a:srgbClr val="5F5750"/>
                </a:solidFill>
              </a:defRPr>
            </a:pPr>
            <a:r>
              <a:t>단전 호흡 탁기 배출 &amp; 태극선법 8초식 동적 기혈 순환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36608" y="3931920"/>
            <a:ext cx="2057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6336" y="4041648"/>
            <a:ext cx="1828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94723E"/>
                </a:solidFill>
              </a:defRPr>
            </a:pPr>
            <a:r>
              <a:t>THERAPIE 10</a:t>
            </a:r>
          </a:p>
          <a:p>
            <a:pPr>
              <a:spcAft>
                <a:spcPts val="500"/>
              </a:spcAft>
              <a:defRPr sz="1150" b="1">
                <a:solidFill>
                  <a:srgbClr val="26201C"/>
                </a:solidFill>
              </a:defRPr>
            </a:pPr>
            <a:r>
              <a:t>멘탈: 정통 고요 명상</a:t>
            </a:r>
          </a:p>
          <a:p>
            <a:pPr>
              <a:lnSpc>
                <a:spcPct val="120000"/>
              </a:lnSpc>
              <a:defRPr sz="950">
                <a:solidFill>
                  <a:srgbClr val="5F5750"/>
                </a:solidFill>
              </a:defRPr>
            </a:pPr>
            <a:r>
              <a:t>사찰/선도 침묵 명상으로 뇌 피로도 70% 감소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4723E"/>
                </a:solidFill>
              </a:defRPr>
            </a:pPr>
            <a:r>
              <a:t>EXPERTS &amp;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6201C"/>
                </a:solidFill>
              </a:defRPr>
            </a:pPr>
            <a:r>
              <a:t>Experten &amp; Leitung : 총괄 연구진 및 디렉터 프로필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286000" cy="22860"/>
          </a:xfrm>
          <a:prstGeom prst="rect">
            <a:avLst/>
          </a:prstGeom>
          <a:solidFill>
            <a:srgbClr val="C29B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51206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4723E"/>
                </a:solidFill>
              </a:defRPr>
            </a:pPr>
            <a:r>
              <a:t>WELLNESS MASTER DIRECTOR</a:t>
            </a:r>
          </a:p>
          <a:p>
            <a:pPr>
              <a:spcAft>
                <a:spcPts val="1000"/>
              </a:spcAft>
              <a:defRPr sz="2400" b="1">
                <a:solidFill>
                  <a:srgbClr val="26201C"/>
                </a:solidFill>
              </a:defRPr>
            </a:pPr>
            <a:r>
              <a:t>유정근 (Ryu Jean)</a:t>
            </a:r>
          </a:p>
          <a:p>
            <a:pPr>
              <a:lnSpc>
                <a:spcPct val="130000"/>
              </a:lnSpc>
              <a:defRPr sz="1200">
                <a:solidFill>
                  <a:srgbClr val="5F5750"/>
                </a:solidFill>
              </a:defRPr>
            </a:pPr>
            <a:r>
              <a:t>• 웰니스 총괄 디렉터 / 전담 테라피스트</a:t>
            </a:r>
            <a:br/>
            <a:r>
              <a:t>• 사상체질 10대 시그니처 테라피 의전 설계</a:t>
            </a:r>
            <a:br/>
            <a:r>
              <a:t>• 글로벌 호텔/리조트 파트너십 및 브랜드 총괄</a:t>
            </a:r>
            <a:br/>
            <a:r>
              <a:t>• 1:1 VIP 프라이빗 컨설팅 및 트리트먼트 마스터</a:t>
            </a:r>
            <a:br/>
            <a:br/>
            <a:r>
              <a:t>📞 연락처: 010-4728-9917</a:t>
            </a:r>
            <a:br/>
            <a:r>
              <a:t>✉️ 이메일: ryujean77@gmail.com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50876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4723E"/>
                </a:solidFill>
              </a:defRPr>
            </a:pPr>
            <a:r>
              <a:t>ACADEMIC &amp; MEDICAL DIRECTOR</a:t>
            </a:r>
          </a:p>
          <a:p>
            <a:pPr>
              <a:spcAft>
                <a:spcPts val="1000"/>
              </a:spcAft>
              <a:defRPr sz="2400" b="1">
                <a:solidFill>
                  <a:srgbClr val="26201C"/>
                </a:solidFill>
              </a:defRPr>
            </a:pPr>
            <a:r>
              <a:t>임동구 박사 (Dr. Dong-Ku Yim)</a:t>
            </a:r>
          </a:p>
          <a:p>
            <a:pPr>
              <a:lnSpc>
                <a:spcPct val="130000"/>
              </a:lnSpc>
              <a:defRPr sz="1200">
                <a:solidFill>
                  <a:srgbClr val="5F5750"/>
                </a:solidFill>
              </a:defRPr>
            </a:pPr>
            <a:r>
              <a:t>• 식품공학박사 / Dr.Yim's 체질라이프스타일 연구소장</a:t>
            </a:r>
            <a:br/>
            <a:r>
              <a:t>• 사상체질 의학의 식품공학적 섭생 연구 권위자</a:t>
            </a:r>
            <a:br/>
            <a:r>
              <a:t>• 4대 체질 맞춤 미역국 &amp; 아로마 배합비 감수</a:t>
            </a:r>
            <a:br/>
            <a:r>
              <a:t>• 현대 생체 데이터 분석 및 체질 확정 알고리즘 구축</a:t>
            </a:r>
            <a:br/>
            <a:br/>
            <a:r>
              <a:t>📞 연락처: 010-2323-4662</a:t>
            </a:r>
            <a:br/>
            <a:r>
              <a:t>✉️ 이메일: ydoko@daum.net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911535" cy="5577840"/>
          </a:xfrm>
          <a:prstGeom prst="rect">
            <a:avLst/>
          </a:prstGeom>
          <a:noFill/>
          <a:ln w="19050">
            <a:solidFill>
              <a:srgbClr val="C29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484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1300" b="1">
                <a:solidFill>
                  <a:srgbClr val="C29B62"/>
                </a:solidFill>
              </a:defRPr>
            </a:pPr>
            <a:r>
              <a:t>K-PREMIUM WELLNESS RETREAT 2026/27</a:t>
            </a:r>
          </a:p>
          <a:p>
            <a:pPr algn="ctr">
              <a:spcAft>
                <a:spcPts val="2000"/>
              </a:spcAft>
              <a:defRPr sz="3200" b="1">
                <a:solidFill>
                  <a:srgbClr val="FFFFFF"/>
                </a:solidFill>
              </a:defRPr>
            </a:pPr>
            <a:r>
              <a:t>가장 한국적인 사상체질 의학이</a:t>
            </a:r>
            <a:br/>
            <a:r>
              <a:t>가장 세계적인 럭셔리 쿠어(Kur)가 됩니다</a:t>
            </a:r>
          </a:p>
          <a:p>
            <a:pPr algn="ctr">
              <a:defRPr sz="1350">
                <a:solidFill>
                  <a:srgbClr val="C29B62"/>
                </a:solidFill>
              </a:defRPr>
            </a:pPr>
            <a:r>
              <a:t>공식 웹 포털 실시간 확인: https://ryujean77.github.io/ryujean-slides/sasang-spa/</a:t>
            </a:r>
            <a:br/>
            <a:r>
              <a:t>문의: 유정근 총괄 디렉터 (010-4728-9917 | ryujean77@gmail.com)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